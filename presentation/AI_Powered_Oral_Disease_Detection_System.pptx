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EDA outcome: clean, moderately imbalanced data. This defines the preprocessing contract: resize to 224x224, RGB, mild augmentation, class weights (reported in M1/M2).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slide. Explain each stage: (1) 12,320 raw images across six classes; (2) exhaustive validation - PIL verify + decode - corrupted files quarantined, zero found; (3) decode RGB, resize 224x224, cast float32, pixels kept in 0-255 because each pretrained backbone normalizes internally; (4) tf.data with cache to avoid re-decoding across epochs and shuffle to remove class ordering; (5) medical-appropriate augmentation - flip, +-15 degree rotation, zoom, translation, brightness and contrast jitter, deliberately mild to preserve clinical features, applied to training only; (6) batch size 32 with prefetch and AUTOTUNE for GPU overlap; (7) Milestone 3 trains the four-architecture benchmark (Custom CNN, MobileNetV2, EfficientNetB3, DenseNet121). Emphasize the stratified 70-15-15 split preserved class proportions exactly, verified in the notebook. Clarify that benchmark model performance is attributed to the reference implementation; our contribution is the analysis, pipeline, and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augmentation's clinical rationale and why they are mild. Validation/test remain unmodified for honest metrics. Milestone 3 trains the four-architecture benchmark on this augmented tf.data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Milestone 3. State clearly: the four models and their training strategy follow the reference implementation (Kaggle); the benchmark model performance is reproduced from the reference notebook and is attributed as such. Our contribution is the EDA, preprocessing pipeline, project architecture, documentation, presentation and system integration. The models train on our verified stratified split (70/15/15, seed 42) built in Milestone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CNNs fit medical imaging: they learn hierarchical features automatically. Rule-based systems fail on varied lighting, scale, and overlapping lesion cues. Reference benchmark: from-scratch baseline reaches about 84%, pretrained transfer learning exceeds 92%.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datasets are far smaller than ImageNet (1.2M images). Transfer learning reuses generic visual features. The standard recipe: load pretrained backbone without its 1000-class head, freeze it, train a small classification head, then fine-tune the top blocks at a much lower learning rate. The reference applies this to all three pretrained models with different unfreeze depths (MobileNetV2: all, EfficientNetB3: top 50, DenseNet121: last 40).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from-scratch baseline validates the pipeline end-to-end and answers the key question: how much does transfer learning help? ~13.2M params, Adam 1e-4, 20 epochs, EarlyStopping patience 5. Reference result: 83.97%. Attributed - not our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Mobile-first backbone built from inverted residuals. The two-phase protocol (frozen feature extraction, then whole-backbone fine-tuning at a rescue learning rate of 1e-5) is the safest way to adapt a mobile network. Reference result: 89.57% after fine-tuning - +5.6 points over the baseline, the direct payoff of ImageNet pretraining. Attributed.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champion. Compound-scaled architecture reaches the best accuracy per parameter; partial fine-tuning of the top 50 layers adapts task-specific features. Reference result: 93.02% - the best of the benchmark. Attributed.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DenseNet connects every layer to all later layers, reusing features densely. With LR annealing (ReduceLROnPlateau) and contrast augmentation it reaches 92.57% - only 0.45 points behind the champion. Attributed.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benchmark slide. All numbers are the Reference Implementation Results reported by the Kaggle reference notebook - never presented as our own experimental results. Champion is EfficientNetB3 at 93.02%; DenseNet121 is a very close second at 92.57%. Reading: +5.6 points from the CNN baseline to MobileNetV2 proves the value of ImageNet pretraining; +3.5 points from MobileNetV2 to EfficientNetB3 shows capacity matters once features are pretrained. Our Milestone 4 will evaluate the deployed model on our own held-out test set (1,848 images).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Champion: EfficientNetB3 (93.02%). Its compound-scaled architecture combines depth, width and resolution efficiency; partial fine-tuning of the top 50 layers adapts task-specific features without destroying generic filters. DenseNet121 reaches 92.57% - only 0.45 points behind - thanks to dense feature reuse and ReduceLROnPlateau annealing. Both heavy models outperform the lightweight MobileNetV2. Reiterate: these are reference benchmark results; our experimental contribution starts with Milestone 4 evaluation on our test split.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Milestone 3 delivered the four-architecture benchmark notebook (30 cells), reference benchmark chart, workflow diagram, presentation slides, and report. Next milestone: evaluation on the 1,848-image test set that was isolated in Milestone 2 and never touched by training - accuracy, precision/recall per class, confusion matrix, then Grad-CAM and the Streamlit app in Milestone 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960120"/>
            <a:ext cx="128016" cy="2103120"/>
          </a:xfrm>
          <a:prstGeom prst="rect">
            <a:avLst/>
          </a:prstGeom>
          <a:solidFill>
            <a:srgbClr val="BD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457200"/>
          </a:xfrm>
          <a:prstGeom prst="rect">
            <a:avLst/>
          </a:prstGeom>
          <a:noFill/>
        </p:spPr>
        <p:txBody>
          <a:bodyPr wrap="square" anchor="t">
            <a:spAutoFit/>
          </a:bodyPr>
          <a:lstStyle/>
          <a:p>
            <a:pPr algn="l"/>
            <a:r>
              <a:rPr sz="1300" b="1">
                <a:solidFill>
                  <a:srgbClr val="4988C4"/>
                </a:solidFill>
                <a:latin typeface="Segoe UI"/>
              </a:rPr>
              <a:t>AI TOOLS COURSE  ·  UNIVERSITY PROJECT</a:t>
            </a:r>
          </a:p>
        </p:txBody>
      </p:sp>
      <p:sp>
        <p:nvSpPr>
          <p:cNvPr id="4" name="TextBox 3"/>
          <p:cNvSpPr txBox="1"/>
          <p:nvPr/>
        </p:nvSpPr>
        <p:spPr>
          <a:xfrm>
            <a:off x="914400" y="1371600"/>
            <a:ext cx="10789920" cy="1371600"/>
          </a:xfrm>
          <a:prstGeom prst="rect">
            <a:avLst/>
          </a:prstGeom>
          <a:noFill/>
        </p:spPr>
        <p:txBody>
          <a:bodyPr wrap="square" anchor="t">
            <a:spAutoFit/>
          </a:bodyPr>
          <a:lstStyle/>
          <a:p>
            <a:pPr algn="l"/>
            <a:r>
              <a:rPr sz="4000" b="1">
                <a:solidFill>
                  <a:srgbClr val="F8FAFC"/>
                </a:solidFill>
                <a:latin typeface="Segoe UI"/>
              </a:rPr>
              <a:t>AI-Powered Oral Disease Detection System</a:t>
            </a:r>
          </a:p>
        </p:txBody>
      </p:sp>
      <p:sp>
        <p:nvSpPr>
          <p:cNvPr id="5" name="TextBox 4"/>
          <p:cNvSpPr txBox="1"/>
          <p:nvPr/>
        </p:nvSpPr>
        <p:spPr>
          <a:xfrm>
            <a:off x="914400" y="2377440"/>
            <a:ext cx="10058400" cy="548640"/>
          </a:xfrm>
          <a:prstGeom prst="rect">
            <a:avLst/>
          </a:prstGeom>
          <a:noFill/>
        </p:spPr>
        <p:txBody>
          <a:bodyPr wrap="square" anchor="t">
            <a:spAutoFit/>
          </a:bodyPr>
          <a:lstStyle/>
          <a:p>
            <a:pPr algn="l"/>
            <a:r>
              <a:rPr sz="2200" b="0">
                <a:solidFill>
                  <a:srgbClr val="BDE8F5"/>
                </a:solidFill>
                <a:latin typeface="Segoe UI"/>
              </a:rPr>
              <a:t>Using Transfer Learning and Explainable AI</a:t>
            </a:r>
          </a:p>
        </p:txBody>
      </p:sp>
      <p:sp>
        <p:nvSpPr>
          <p:cNvPr id="6" name="Rectangle 5"/>
          <p:cNvSpPr/>
          <p:nvPr/>
        </p:nvSpPr>
        <p:spPr>
          <a:xfrm>
            <a:off x="914400" y="3749039"/>
            <a:ext cx="3108960" cy="914400"/>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BDE8F5"/>
                </a:solidFill>
                <a:latin typeface="Segoe UI Semibold"/>
              </a:rPr>
              <a:t>DATASET
</a:t>
            </a:r>
            <a:r>
              <a:rPr sz="1200">
                <a:solidFill>
                  <a:srgbClr val="CBD5E1"/>
                </a:solidFill>
                <a:latin typeface="Segoe UI"/>
              </a:rPr>
              <a:t>Oral Diseases · 12,320 images</a:t>
            </a:r>
          </a:p>
        </p:txBody>
      </p:sp>
      <p:sp>
        <p:nvSpPr>
          <p:cNvPr id="7" name="Rectangle 6"/>
          <p:cNvSpPr/>
          <p:nvPr/>
        </p:nvSpPr>
        <p:spPr>
          <a:xfrm>
            <a:off x="4297680" y="3749039"/>
            <a:ext cx="3108960" cy="914400"/>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BDE8F5"/>
                </a:solidFill>
                <a:latin typeface="Segoe UI Semibold"/>
              </a:rPr>
              <a:t>MODELS
</a:t>
            </a:r>
            <a:r>
              <a:rPr sz="1200">
                <a:solidFill>
                  <a:srgbClr val="CBD5E1"/>
                </a:solidFill>
                <a:latin typeface="Segoe UI"/>
              </a:rPr>
              <a:t>4-architecture TL benchmark</a:t>
            </a:r>
          </a:p>
        </p:txBody>
      </p:sp>
      <p:sp>
        <p:nvSpPr>
          <p:cNvPr id="8" name="Rectangle 7"/>
          <p:cNvSpPr/>
          <p:nvPr/>
        </p:nvSpPr>
        <p:spPr>
          <a:xfrm>
            <a:off x="7680960" y="3749039"/>
            <a:ext cx="3108960" cy="914400"/>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BDE8F5"/>
                </a:solidFill>
                <a:latin typeface="Segoe UI Semibold"/>
              </a:rPr>
              <a:t>EXPLAIN
</a:t>
            </a:r>
            <a:r>
              <a:rPr sz="1200">
                <a:solidFill>
                  <a:srgbClr val="CBD5E1"/>
                </a:solidFill>
                <a:latin typeface="Segoe UI"/>
              </a:rPr>
              <a:t>Grad-CAM heatmaps</a:t>
            </a:r>
          </a:p>
        </p:txBody>
      </p:sp>
      <p:sp>
        <p:nvSpPr>
          <p:cNvPr id="9" name="TextBox 8"/>
          <p:cNvSpPr txBox="1"/>
          <p:nvPr/>
        </p:nvSpPr>
        <p:spPr>
          <a:xfrm>
            <a:off x="914400" y="5852160"/>
            <a:ext cx="10058400" cy="457200"/>
          </a:xfrm>
          <a:prstGeom prst="rect">
            <a:avLst/>
          </a:prstGeom>
          <a:noFill/>
        </p:spPr>
        <p:txBody>
          <a:bodyPr wrap="square" anchor="t">
            <a:spAutoFit/>
          </a:bodyPr>
          <a:lstStyle/>
          <a:p>
            <a:pPr algn="l"/>
            <a:r>
              <a:rPr sz="1400" b="0">
                <a:solidFill>
                  <a:srgbClr val="CBD5E1"/>
                </a:solidFill>
                <a:latin typeface="Segoe UI"/>
              </a:rPr>
              <a:t>Milestones: 1 EDA ✅ · 2 Preprocessing ✅ · 3 Training Benchmark ✅ · 4 Evaluation · 5 Grad-CAM</a:t>
            </a:r>
          </a:p>
        </p:txBody>
      </p:sp>
      <p:sp>
        <p:nvSpPr>
          <p:cNvPr id="10" name="TextBox 9"/>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1/15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960120"/>
            <a:ext cx="128016" cy="1280160"/>
          </a:xfrm>
          <a:prstGeom prst="rect">
            <a:avLst/>
          </a:prstGeom>
          <a:solidFill>
            <a:srgbClr val="BD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457200"/>
          </a:xfrm>
          <a:prstGeom prst="rect">
            <a:avLst/>
          </a:prstGeom>
          <a:noFill/>
        </p:spPr>
        <p:txBody>
          <a:bodyPr wrap="square" anchor="t">
            <a:spAutoFit/>
          </a:bodyPr>
          <a:lstStyle/>
          <a:p>
            <a:pPr algn="l"/>
            <a:r>
              <a:rPr sz="1300" b="1">
                <a:solidFill>
                  <a:srgbClr val="4988C4"/>
                </a:solidFill>
                <a:latin typeface="Segoe UI"/>
              </a:rPr>
              <a:t>MILESTONE 1 · EXPLORATORY DATA ANALYSIS</a:t>
            </a:r>
          </a:p>
        </p:txBody>
      </p:sp>
      <p:sp>
        <p:nvSpPr>
          <p:cNvPr id="4" name="TextBox 3"/>
          <p:cNvSpPr txBox="1"/>
          <p:nvPr/>
        </p:nvSpPr>
        <p:spPr>
          <a:xfrm>
            <a:off x="914400" y="1325880"/>
            <a:ext cx="10789920" cy="914400"/>
          </a:xfrm>
          <a:prstGeom prst="rect">
            <a:avLst/>
          </a:prstGeom>
          <a:noFill/>
        </p:spPr>
        <p:txBody>
          <a:bodyPr wrap="square" anchor="t">
            <a:spAutoFit/>
          </a:bodyPr>
          <a:lstStyle/>
          <a:p>
            <a:pPr algn="l"/>
            <a:r>
              <a:rPr sz="3200" b="1">
                <a:solidFill>
                  <a:srgbClr val="F8FAFC"/>
                </a:solidFill>
                <a:latin typeface="Segoe UI"/>
              </a:rPr>
              <a:t>Understanding the Data</a:t>
            </a:r>
          </a:p>
        </p:txBody>
      </p:sp>
      <p:sp>
        <p:nvSpPr>
          <p:cNvPr id="5" name="TextBox 4"/>
          <p:cNvSpPr txBox="1"/>
          <p:nvPr/>
        </p:nvSpPr>
        <p:spPr>
          <a:xfrm>
            <a:off x="914400" y="2194560"/>
            <a:ext cx="10515600" cy="731520"/>
          </a:xfrm>
          <a:prstGeom prst="rect">
            <a:avLst/>
          </a:prstGeom>
          <a:noFill/>
        </p:spPr>
        <p:txBody>
          <a:bodyPr wrap="square" anchor="t">
            <a:spAutoFit/>
          </a:bodyPr>
          <a:lstStyle/>
          <a:p>
            <a:pPr algn="l"/>
            <a:r>
              <a:rPr sz="1500" b="0">
                <a:solidFill>
                  <a:srgbClr val="CBD5E1"/>
                </a:solidFill>
                <a:latin typeface="Segoe UI"/>
              </a:rPr>
              <a:t>12,320 images · 6 classes · 2.24:1 imbalance · clean quality audit</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2/15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1 · KEY FINDINGS</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What the EDA Revealed</a:t>
            </a:r>
          </a:p>
        </p:txBody>
      </p:sp>
      <p:sp>
        <p:nvSpPr>
          <p:cNvPr id="5" name="TextBox 4"/>
          <p:cNvSpPr txBox="1"/>
          <p:nvPr/>
        </p:nvSpPr>
        <p:spPr>
          <a:xfrm>
            <a:off x="640080" y="1920240"/>
            <a:ext cx="5669280" cy="4023360"/>
          </a:xfrm>
          <a:prstGeom prst="rect">
            <a:avLst/>
          </a:prstGeom>
          <a:noFill/>
        </p:spPr>
        <p:txBody>
          <a:bodyPr wrap="square">
            <a:spAutoFit/>
          </a:bodyPr>
          <a:lstStyle/>
          <a:p>
            <a:pPr>
              <a:spcAft>
                <a:spcPts val="800"/>
              </a:spcAft>
            </a:pPr>
            <a:r>
              <a:rPr sz="1400" b="1">
                <a:solidFill>
                  <a:srgbClr val="F8FAFC"/>
                </a:solidFill>
                <a:latin typeface="Segoe UI Semibold"/>
              </a:rPr>
              <a:t>Dataset — </a:t>
            </a:r>
            <a:r>
              <a:rPr sz="1400">
                <a:solidFill>
                  <a:srgbClr val="CBD5E1"/>
                </a:solidFill>
                <a:latin typeface="Segoe UI"/>
              </a:rPr>
              <a:t>12,320 images across 6 disease classes, clean folder structure</a:t>
            </a:r>
          </a:p>
          <a:p>
            <a:pPr>
              <a:spcAft>
                <a:spcPts val="800"/>
              </a:spcAft>
            </a:pPr>
            <a:r>
              <a:rPr sz="1400" b="1">
                <a:solidFill>
                  <a:srgbClr val="F8FAFC"/>
                </a:solidFill>
                <a:latin typeface="Segoe UI Semibold"/>
              </a:rPr>
              <a:t>Balance — </a:t>
            </a:r>
            <a:r>
              <a:rPr sz="1400">
                <a:solidFill>
                  <a:srgbClr val="CBD5E1"/>
                </a:solidFill>
                <a:latin typeface="Segoe UI"/>
              </a:rPr>
              <a:t>moderate imbalance 2.24:1 - Hypodontia (10.2%) smallest class</a:t>
            </a:r>
          </a:p>
          <a:p>
            <a:pPr>
              <a:spcAft>
                <a:spcPts val="800"/>
              </a:spcAft>
            </a:pPr>
            <a:r>
              <a:rPr sz="1400" b="1">
                <a:solidFill>
                  <a:srgbClr val="F8FAFC"/>
                </a:solidFill>
                <a:latin typeface="Segoe UI Semibold"/>
              </a:rPr>
              <a:t>Quality — </a:t>
            </a:r>
            <a:r>
              <a:rPr sz="1400">
                <a:solidFill>
                  <a:srgbClr val="CBD5E1"/>
                </a:solidFill>
                <a:latin typeface="Segoe UI"/>
              </a:rPr>
              <a:t>0 corrupted images, 0 within-class duplicates, 0 unsupported files</a:t>
            </a:r>
          </a:p>
          <a:p>
            <a:pPr>
              <a:spcAft>
                <a:spcPts val="800"/>
              </a:spcAft>
            </a:pPr>
            <a:r>
              <a:rPr sz="1400" b="1">
                <a:solidFill>
                  <a:srgbClr val="F8FAFC"/>
                </a:solidFill>
                <a:latin typeface="Segoe UI Semibold"/>
              </a:rPr>
              <a:t>Geometry — </a:t>
            </a:r>
            <a:r>
              <a:rPr sz="1400">
                <a:solidFill>
                  <a:srgbClr val="CBD5E1"/>
                </a:solidFill>
                <a:latin typeface="Segoe UI"/>
              </a:rPr>
              <a:t>variable resolution &amp; aspect ratio → resize to 224×224</a:t>
            </a:r>
          </a:p>
          <a:p>
            <a:pPr>
              <a:spcAft>
                <a:spcPts val="800"/>
              </a:spcAft>
            </a:pPr>
            <a:r>
              <a:rPr sz="1400" b="1">
                <a:solidFill>
                  <a:srgbClr val="F8FAFC"/>
                </a:solidFill>
                <a:latin typeface="Segoe UI Semibold"/>
              </a:rPr>
              <a:t>Excluded — </a:t>
            </a:r>
            <a:r>
              <a:rPr sz="1400">
                <a:solidFill>
                  <a:srgbClr val="CBD5E1"/>
                </a:solidFill>
                <a:latin typeface="Segoe UI"/>
              </a:rPr>
              <a:t>mixed YOLO-annotated folder removed (noisy labels)</a:t>
            </a:r>
          </a:p>
        </p:txBody>
      </p:sp>
      <p:pic>
        <p:nvPicPr>
          <p:cNvPr id="6" name="Picture 5" descr="class_distribution.png"/>
          <p:cNvPicPr>
            <a:picLocks noChangeAspect="1"/>
          </p:cNvPicPr>
          <p:nvPr/>
        </p:nvPicPr>
        <p:blipFill>
          <a:blip r:embed="rId2"/>
          <a:stretch>
            <a:fillRect/>
          </a:stretch>
        </p:blipFill>
        <p:spPr>
          <a:xfrm>
            <a:off x="6766560" y="2011680"/>
            <a:ext cx="4846320" cy="3144608"/>
          </a:xfrm>
          <a:prstGeom prst="rect">
            <a:avLst/>
          </a:prstGeom>
        </p:spPr>
      </p:pic>
      <p:sp>
        <p:nvSpPr>
          <p:cNvPr id="7" name="TextBox 6"/>
          <p:cNvSpPr txBox="1"/>
          <p:nvPr/>
        </p:nvSpPr>
        <p:spPr>
          <a:xfrm>
            <a:off x="6766560" y="5806440"/>
            <a:ext cx="4846320" cy="365760"/>
          </a:xfrm>
          <a:prstGeom prst="rect">
            <a:avLst/>
          </a:prstGeom>
          <a:noFill/>
        </p:spPr>
        <p:txBody>
          <a:bodyPr wrap="square" anchor="t">
            <a:spAutoFit/>
          </a:bodyPr>
          <a:lstStyle/>
          <a:p>
            <a:pPr algn="ctr"/>
            <a:r>
              <a:rPr sz="1000" b="0">
                <a:solidFill>
                  <a:srgbClr val="CBD5E1"/>
                </a:solidFill>
                <a:latin typeface="Segoe UI"/>
              </a:rPr>
              <a:t>Class distribution from Milestone 1 EDA</a:t>
            </a:r>
          </a:p>
        </p:txBody>
      </p:sp>
      <p:sp>
        <p:nvSpPr>
          <p:cNvPr id="8" name="TextBox 7"/>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3/15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2 · TENSORFLOW DATA PIPELINE</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Preprocessing Pipeline Workflow</a:t>
            </a:r>
          </a:p>
        </p:txBody>
      </p:sp>
      <p:sp>
        <p:nvSpPr>
          <p:cNvPr id="5" name="Rectangle 4"/>
          <p:cNvSpPr/>
          <p:nvPr/>
        </p:nvSpPr>
        <p:spPr>
          <a:xfrm>
            <a:off x="640080" y="2377440"/>
            <a:ext cx="1417320" cy="1554480"/>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606040"/>
            <a:ext cx="1271016" cy="1188720"/>
          </a:xfrm>
          <a:prstGeom prst="rect">
            <a:avLst/>
          </a:prstGeom>
          <a:noFill/>
        </p:spPr>
        <p:txBody>
          <a:bodyPr wrap="square" anchor="t">
            <a:spAutoFit/>
          </a:bodyPr>
          <a:lstStyle/>
          <a:p>
            <a:pPr algn="ctr"/>
            <a:r>
              <a:rPr sz="1300" b="0">
                <a:solidFill>
                  <a:srgbClr val="F8FAFC"/>
                </a:solidFill>
                <a:latin typeface="Segoe UI"/>
              </a:rPr>
              <a:t/>
            </a:r>
            <a:r>
              <a:rPr sz="1300" b="1">
                <a:solidFill>
                  <a:srgbClr val="F8FAFC"/>
                </a:solidFill>
                <a:latin typeface="Segoe UI Semibold"/>
              </a:rPr>
              <a:t>RAW DATA</a:t>
            </a:r>
          </a:p>
          <a:p>
            <a:pPr algn="ctr"/>
            <a:r>
              <a:rPr sz="1050">
                <a:solidFill>
                  <a:srgbClr val="F8FAFC"/>
                </a:solidFill>
                <a:latin typeface="Segoe UI"/>
              </a:rPr>
              <a:t>6 classes
12,320 imgs</a:t>
            </a:r>
          </a:p>
        </p:txBody>
      </p:sp>
      <p:sp>
        <p:nvSpPr>
          <p:cNvPr id="7" name="TextBox 6"/>
          <p:cNvSpPr txBox="1"/>
          <p:nvPr/>
        </p:nvSpPr>
        <p:spPr>
          <a:xfrm>
            <a:off x="2066544" y="2926080"/>
            <a:ext cx="246888" cy="457200"/>
          </a:xfrm>
          <a:prstGeom prst="rect">
            <a:avLst/>
          </a:prstGeom>
          <a:noFill/>
        </p:spPr>
        <p:txBody>
          <a:bodyPr wrap="square" anchor="t">
            <a:spAutoFit/>
          </a:bodyPr>
          <a:lstStyle/>
          <a:p>
            <a:pPr algn="ctr"/>
            <a:r>
              <a:rPr sz="2000" b="0">
                <a:solidFill>
                  <a:srgbClr val="BDE8F5"/>
                </a:solidFill>
                <a:latin typeface="Segoe UI"/>
              </a:rPr>
              <a:t>›</a:t>
            </a:r>
          </a:p>
        </p:txBody>
      </p:sp>
      <p:sp>
        <p:nvSpPr>
          <p:cNvPr id="8" name="Rectangle 7"/>
          <p:cNvSpPr/>
          <p:nvPr/>
        </p:nvSpPr>
        <p:spPr>
          <a:xfrm>
            <a:off x="2258568" y="2377440"/>
            <a:ext cx="1417320" cy="1554480"/>
          </a:xfrm>
          <a:prstGeom prst="rect">
            <a:avLst/>
          </a:prstGeom>
          <a:solidFill>
            <a:srgbClr val="498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2606040"/>
            <a:ext cx="1271016" cy="1188720"/>
          </a:xfrm>
          <a:prstGeom prst="rect">
            <a:avLst/>
          </a:prstGeom>
          <a:noFill/>
        </p:spPr>
        <p:txBody>
          <a:bodyPr wrap="square" anchor="t">
            <a:spAutoFit/>
          </a:bodyPr>
          <a:lstStyle/>
          <a:p>
            <a:pPr algn="ctr"/>
            <a:r>
              <a:rPr sz="1300" b="0">
                <a:solidFill>
                  <a:srgbClr val="F8FAFC"/>
                </a:solidFill>
                <a:latin typeface="Segoe UI"/>
              </a:rPr>
              <a:t/>
            </a:r>
            <a:r>
              <a:rPr sz="1300" b="1">
                <a:solidFill>
                  <a:srgbClr val="F8FAFC"/>
                </a:solidFill>
                <a:latin typeface="Segoe UI Semibold"/>
              </a:rPr>
              <a:t>CLEANING</a:t>
            </a:r>
          </a:p>
          <a:p>
            <a:pPr algn="ctr"/>
            <a:r>
              <a:rPr sz="1050">
                <a:solidFill>
                  <a:srgbClr val="F8FAFC"/>
                </a:solidFill>
                <a:latin typeface="Segoe UI"/>
              </a:rPr>
              <a:t>validate
quarantine</a:t>
            </a:r>
          </a:p>
        </p:txBody>
      </p:sp>
      <p:sp>
        <p:nvSpPr>
          <p:cNvPr id="10" name="TextBox 9"/>
          <p:cNvSpPr txBox="1"/>
          <p:nvPr/>
        </p:nvSpPr>
        <p:spPr>
          <a:xfrm>
            <a:off x="3685032" y="2926080"/>
            <a:ext cx="246888" cy="457200"/>
          </a:xfrm>
          <a:prstGeom prst="rect">
            <a:avLst/>
          </a:prstGeom>
          <a:noFill/>
        </p:spPr>
        <p:txBody>
          <a:bodyPr wrap="square" anchor="t">
            <a:spAutoFit/>
          </a:bodyPr>
          <a:lstStyle/>
          <a:p>
            <a:pPr algn="ctr"/>
            <a:r>
              <a:rPr sz="2000" b="0">
                <a:solidFill>
                  <a:srgbClr val="BDE8F5"/>
                </a:solidFill>
                <a:latin typeface="Segoe UI"/>
              </a:rPr>
              <a:t>›</a:t>
            </a:r>
          </a:p>
        </p:txBody>
      </p:sp>
      <p:sp>
        <p:nvSpPr>
          <p:cNvPr id="11" name="Rectangle 10"/>
          <p:cNvSpPr/>
          <p:nvPr/>
        </p:nvSpPr>
        <p:spPr>
          <a:xfrm>
            <a:off x="3877056" y="2377440"/>
            <a:ext cx="1417320" cy="1554480"/>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50208" y="2606040"/>
            <a:ext cx="1271016" cy="1188720"/>
          </a:xfrm>
          <a:prstGeom prst="rect">
            <a:avLst/>
          </a:prstGeom>
          <a:noFill/>
        </p:spPr>
        <p:txBody>
          <a:bodyPr wrap="square" anchor="t">
            <a:spAutoFit/>
          </a:bodyPr>
          <a:lstStyle/>
          <a:p>
            <a:pPr algn="ctr"/>
            <a:r>
              <a:rPr sz="1300" b="0">
                <a:solidFill>
                  <a:srgbClr val="F8FAFC"/>
                </a:solidFill>
                <a:latin typeface="Segoe UI"/>
              </a:rPr>
              <a:t/>
            </a:r>
            <a:r>
              <a:rPr sz="1300" b="1">
                <a:solidFill>
                  <a:srgbClr val="F8FAFC"/>
                </a:solidFill>
                <a:latin typeface="Segoe UI Semibold"/>
              </a:rPr>
              <a:t>PREPROCESS</a:t>
            </a:r>
          </a:p>
          <a:p>
            <a:pPr algn="ctr"/>
            <a:r>
              <a:rPr sz="1050">
                <a:solidFill>
                  <a:srgbClr val="F8FAFC"/>
                </a:solidFill>
                <a:latin typeface="Segoe UI"/>
              </a:rPr>
              <a:t>RGB → 224×224
float32 [0,255]</a:t>
            </a:r>
          </a:p>
        </p:txBody>
      </p:sp>
      <p:sp>
        <p:nvSpPr>
          <p:cNvPr id="13" name="TextBox 12"/>
          <p:cNvSpPr txBox="1"/>
          <p:nvPr/>
        </p:nvSpPr>
        <p:spPr>
          <a:xfrm>
            <a:off x="5303520" y="2926080"/>
            <a:ext cx="246888" cy="457200"/>
          </a:xfrm>
          <a:prstGeom prst="rect">
            <a:avLst/>
          </a:prstGeom>
          <a:noFill/>
        </p:spPr>
        <p:txBody>
          <a:bodyPr wrap="square" anchor="t">
            <a:spAutoFit/>
          </a:bodyPr>
          <a:lstStyle/>
          <a:p>
            <a:pPr algn="ctr"/>
            <a:r>
              <a:rPr sz="2000" b="0">
                <a:solidFill>
                  <a:srgbClr val="BDE8F5"/>
                </a:solidFill>
                <a:latin typeface="Segoe UI"/>
              </a:rPr>
              <a:t>›</a:t>
            </a:r>
          </a:p>
        </p:txBody>
      </p:sp>
      <p:sp>
        <p:nvSpPr>
          <p:cNvPr id="14" name="Rectangle 13"/>
          <p:cNvSpPr/>
          <p:nvPr/>
        </p:nvSpPr>
        <p:spPr>
          <a:xfrm>
            <a:off x="5495544" y="2377440"/>
            <a:ext cx="1417320" cy="1554480"/>
          </a:xfrm>
          <a:prstGeom prst="rect">
            <a:avLst/>
          </a:prstGeom>
          <a:solidFill>
            <a:srgbClr val="498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68696" y="2606040"/>
            <a:ext cx="1271016" cy="1188720"/>
          </a:xfrm>
          <a:prstGeom prst="rect">
            <a:avLst/>
          </a:prstGeom>
          <a:noFill/>
        </p:spPr>
        <p:txBody>
          <a:bodyPr wrap="square" anchor="t">
            <a:spAutoFit/>
          </a:bodyPr>
          <a:lstStyle/>
          <a:p>
            <a:pPr algn="ctr"/>
            <a:r>
              <a:rPr sz="1300" b="0">
                <a:solidFill>
                  <a:srgbClr val="F8FAFC"/>
                </a:solidFill>
                <a:latin typeface="Segoe UI"/>
              </a:rPr>
              <a:t/>
            </a:r>
            <a:r>
              <a:rPr sz="1300" b="1">
                <a:solidFill>
                  <a:srgbClr val="F8FAFC"/>
                </a:solidFill>
                <a:latin typeface="Segoe UI Semibold"/>
              </a:rPr>
              <a:t>tf.data</a:t>
            </a:r>
          </a:p>
          <a:p>
            <a:pPr algn="ctr"/>
            <a:r>
              <a:rPr sz="1050">
                <a:solidFill>
                  <a:srgbClr val="F8FAFC"/>
                </a:solidFill>
                <a:latin typeface="Segoe UI"/>
              </a:rPr>
              <a:t>cache
shuffle</a:t>
            </a:r>
          </a:p>
        </p:txBody>
      </p:sp>
      <p:sp>
        <p:nvSpPr>
          <p:cNvPr id="16" name="TextBox 15"/>
          <p:cNvSpPr txBox="1"/>
          <p:nvPr/>
        </p:nvSpPr>
        <p:spPr>
          <a:xfrm>
            <a:off x="6922008" y="2926080"/>
            <a:ext cx="246888" cy="457200"/>
          </a:xfrm>
          <a:prstGeom prst="rect">
            <a:avLst/>
          </a:prstGeom>
          <a:noFill/>
        </p:spPr>
        <p:txBody>
          <a:bodyPr wrap="square" anchor="t">
            <a:spAutoFit/>
          </a:bodyPr>
          <a:lstStyle/>
          <a:p>
            <a:pPr algn="ctr"/>
            <a:r>
              <a:rPr sz="2000" b="0">
                <a:solidFill>
                  <a:srgbClr val="BDE8F5"/>
                </a:solidFill>
                <a:latin typeface="Segoe UI"/>
              </a:rPr>
              <a:t>›</a:t>
            </a:r>
          </a:p>
        </p:txBody>
      </p:sp>
      <p:sp>
        <p:nvSpPr>
          <p:cNvPr id="17" name="Rectangle 16"/>
          <p:cNvSpPr/>
          <p:nvPr/>
        </p:nvSpPr>
        <p:spPr>
          <a:xfrm>
            <a:off x="7114032" y="2377440"/>
            <a:ext cx="1417320" cy="1554480"/>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87184" y="2606040"/>
            <a:ext cx="1271016" cy="1188720"/>
          </a:xfrm>
          <a:prstGeom prst="rect">
            <a:avLst/>
          </a:prstGeom>
          <a:noFill/>
        </p:spPr>
        <p:txBody>
          <a:bodyPr wrap="square" anchor="t">
            <a:spAutoFit/>
          </a:bodyPr>
          <a:lstStyle/>
          <a:p>
            <a:pPr algn="ctr"/>
            <a:r>
              <a:rPr sz="1300" b="0">
                <a:solidFill>
                  <a:srgbClr val="F8FAFC"/>
                </a:solidFill>
                <a:latin typeface="Segoe UI"/>
              </a:rPr>
              <a:t/>
            </a:r>
            <a:r>
              <a:rPr sz="1300" b="1">
                <a:solidFill>
                  <a:srgbClr val="F8FAFC"/>
                </a:solidFill>
                <a:latin typeface="Segoe UI Semibold"/>
              </a:rPr>
              <a:t>AUGMENT</a:t>
            </a:r>
          </a:p>
          <a:p>
            <a:pPr algn="ctr"/>
            <a:r>
              <a:rPr sz="1050">
                <a:solidFill>
                  <a:srgbClr val="F8FAFC"/>
                </a:solidFill>
                <a:latin typeface="Segoe UI"/>
              </a:rPr>
              <a:t>flip · rot · zoom
shift · light · contrast</a:t>
            </a:r>
          </a:p>
        </p:txBody>
      </p:sp>
      <p:sp>
        <p:nvSpPr>
          <p:cNvPr id="19" name="TextBox 18"/>
          <p:cNvSpPr txBox="1"/>
          <p:nvPr/>
        </p:nvSpPr>
        <p:spPr>
          <a:xfrm>
            <a:off x="8540496" y="2926080"/>
            <a:ext cx="246888" cy="457200"/>
          </a:xfrm>
          <a:prstGeom prst="rect">
            <a:avLst/>
          </a:prstGeom>
          <a:noFill/>
        </p:spPr>
        <p:txBody>
          <a:bodyPr wrap="square" anchor="t">
            <a:spAutoFit/>
          </a:bodyPr>
          <a:lstStyle/>
          <a:p>
            <a:pPr algn="ctr"/>
            <a:r>
              <a:rPr sz="2000" b="0">
                <a:solidFill>
                  <a:srgbClr val="BDE8F5"/>
                </a:solidFill>
                <a:latin typeface="Segoe UI"/>
              </a:rPr>
              <a:t>›</a:t>
            </a:r>
          </a:p>
        </p:txBody>
      </p:sp>
      <p:sp>
        <p:nvSpPr>
          <p:cNvPr id="20" name="Rectangle 19"/>
          <p:cNvSpPr/>
          <p:nvPr/>
        </p:nvSpPr>
        <p:spPr>
          <a:xfrm>
            <a:off x="8732520" y="2377440"/>
            <a:ext cx="1417320" cy="1554480"/>
          </a:xfrm>
          <a:prstGeom prst="rect">
            <a:avLst/>
          </a:prstGeom>
          <a:solidFill>
            <a:srgbClr val="498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05672" y="2606040"/>
            <a:ext cx="1271016" cy="1188720"/>
          </a:xfrm>
          <a:prstGeom prst="rect">
            <a:avLst/>
          </a:prstGeom>
          <a:noFill/>
        </p:spPr>
        <p:txBody>
          <a:bodyPr wrap="square" anchor="t">
            <a:spAutoFit/>
          </a:bodyPr>
          <a:lstStyle/>
          <a:p>
            <a:pPr algn="ctr"/>
            <a:r>
              <a:rPr sz="1300" b="0">
                <a:solidFill>
                  <a:srgbClr val="F8FAFC"/>
                </a:solidFill>
                <a:latin typeface="Segoe UI"/>
              </a:rPr>
              <a:t/>
            </a:r>
            <a:r>
              <a:rPr sz="1300" b="1">
                <a:solidFill>
                  <a:srgbClr val="F8FAFC"/>
                </a:solidFill>
                <a:latin typeface="Segoe UI Semibold"/>
              </a:rPr>
              <a:t>BATCH</a:t>
            </a:r>
          </a:p>
          <a:p>
            <a:pPr algn="ctr"/>
            <a:r>
              <a:rPr sz="1050">
                <a:solidFill>
                  <a:srgbClr val="F8FAFC"/>
                </a:solidFill>
                <a:latin typeface="Segoe UI"/>
              </a:rPr>
              <a:t>batch 32
prefetch</a:t>
            </a:r>
          </a:p>
        </p:txBody>
      </p:sp>
      <p:sp>
        <p:nvSpPr>
          <p:cNvPr id="22" name="TextBox 21"/>
          <p:cNvSpPr txBox="1"/>
          <p:nvPr/>
        </p:nvSpPr>
        <p:spPr>
          <a:xfrm>
            <a:off x="10158984" y="2926080"/>
            <a:ext cx="246888" cy="457200"/>
          </a:xfrm>
          <a:prstGeom prst="rect">
            <a:avLst/>
          </a:prstGeom>
          <a:noFill/>
        </p:spPr>
        <p:txBody>
          <a:bodyPr wrap="square" anchor="t">
            <a:spAutoFit/>
          </a:bodyPr>
          <a:lstStyle/>
          <a:p>
            <a:pPr algn="ctr"/>
            <a:r>
              <a:rPr sz="2000" b="0">
                <a:solidFill>
                  <a:srgbClr val="BDE8F5"/>
                </a:solidFill>
                <a:latin typeface="Segoe UI"/>
              </a:rPr>
              <a:t>›</a:t>
            </a:r>
          </a:p>
        </p:txBody>
      </p:sp>
      <p:sp>
        <p:nvSpPr>
          <p:cNvPr id="23" name="Rectangle 22"/>
          <p:cNvSpPr/>
          <p:nvPr/>
        </p:nvSpPr>
        <p:spPr>
          <a:xfrm>
            <a:off x="10351008" y="2377440"/>
            <a:ext cx="1417320" cy="1554480"/>
          </a:xfrm>
          <a:prstGeom prst="rect">
            <a:avLst/>
          </a:prstGeom>
          <a:solidFill>
            <a:srgbClr val="BD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24160" y="2606040"/>
            <a:ext cx="1271016" cy="1188720"/>
          </a:xfrm>
          <a:prstGeom prst="rect">
            <a:avLst/>
          </a:prstGeom>
          <a:noFill/>
        </p:spPr>
        <p:txBody>
          <a:bodyPr wrap="square" anchor="t">
            <a:spAutoFit/>
          </a:bodyPr>
          <a:lstStyle/>
          <a:p>
            <a:pPr algn="ctr"/>
            <a:r>
              <a:rPr sz="1300" b="0">
                <a:solidFill>
                  <a:srgbClr val="F8FAFC"/>
                </a:solidFill>
                <a:latin typeface="Segoe UI"/>
              </a:rPr>
              <a:t/>
            </a:r>
            <a:r>
              <a:rPr sz="1300" b="1">
                <a:solidFill>
                  <a:srgbClr val="0F2854"/>
                </a:solidFill>
                <a:latin typeface="Segoe UI Semibold"/>
              </a:rPr>
              <a:t>M3 BENCHMARK</a:t>
            </a:r>
          </a:p>
          <a:p>
            <a:pPr algn="ctr"/>
            <a:r>
              <a:rPr sz="1050">
                <a:solidFill>
                  <a:srgbClr val="F8FAFC"/>
                </a:solidFill>
                <a:latin typeface="Segoe UI"/>
              </a:rPr>
              <a:t>4 TL models
(attributed)</a:t>
            </a:r>
          </a:p>
        </p:txBody>
      </p:sp>
      <p:sp>
        <p:nvSpPr>
          <p:cNvPr id="25" name="Rectangle 24"/>
          <p:cNvSpPr/>
          <p:nvPr/>
        </p:nvSpPr>
        <p:spPr>
          <a:xfrm>
            <a:off x="640080" y="4754880"/>
            <a:ext cx="2651760" cy="1051560"/>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864608"/>
            <a:ext cx="2377440" cy="457200"/>
          </a:xfrm>
          <a:prstGeom prst="rect">
            <a:avLst/>
          </a:prstGeom>
          <a:noFill/>
        </p:spPr>
        <p:txBody>
          <a:bodyPr wrap="square" anchor="t">
            <a:spAutoFit/>
          </a:bodyPr>
          <a:lstStyle/>
          <a:p>
            <a:pPr algn="ctr"/>
            <a:r>
              <a:rPr sz="2000" b="1">
                <a:solidFill>
                  <a:srgbClr val="BDE8F5"/>
                </a:solidFill>
                <a:latin typeface="Segoe UI"/>
              </a:rPr>
              <a:t>12,320</a:t>
            </a:r>
          </a:p>
        </p:txBody>
      </p:sp>
      <p:sp>
        <p:nvSpPr>
          <p:cNvPr id="27" name="TextBox 26"/>
          <p:cNvSpPr txBox="1"/>
          <p:nvPr/>
        </p:nvSpPr>
        <p:spPr>
          <a:xfrm>
            <a:off x="777240" y="5321808"/>
            <a:ext cx="2377440" cy="365760"/>
          </a:xfrm>
          <a:prstGeom prst="rect">
            <a:avLst/>
          </a:prstGeom>
          <a:noFill/>
        </p:spPr>
        <p:txBody>
          <a:bodyPr wrap="square" anchor="t">
            <a:spAutoFit/>
          </a:bodyPr>
          <a:lstStyle/>
          <a:p>
            <a:pPr algn="ctr"/>
            <a:r>
              <a:rPr sz="1100" b="0">
                <a:solidFill>
                  <a:srgbClr val="CBD5E1"/>
                </a:solidFill>
                <a:latin typeface="Segoe UI"/>
              </a:rPr>
              <a:t>files validated</a:t>
            </a:r>
          </a:p>
        </p:txBody>
      </p:sp>
      <p:sp>
        <p:nvSpPr>
          <p:cNvPr id="28" name="Rectangle 27"/>
          <p:cNvSpPr/>
          <p:nvPr/>
        </p:nvSpPr>
        <p:spPr>
          <a:xfrm>
            <a:off x="3474720" y="4754880"/>
            <a:ext cx="2651760" cy="1051560"/>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11880" y="4864608"/>
            <a:ext cx="2377440" cy="457200"/>
          </a:xfrm>
          <a:prstGeom prst="rect">
            <a:avLst/>
          </a:prstGeom>
          <a:noFill/>
        </p:spPr>
        <p:txBody>
          <a:bodyPr wrap="square" anchor="t">
            <a:spAutoFit/>
          </a:bodyPr>
          <a:lstStyle/>
          <a:p>
            <a:pPr algn="ctr"/>
            <a:r>
              <a:rPr sz="2000" b="1">
                <a:solidFill>
                  <a:srgbClr val="BDE8F5"/>
                </a:solidFill>
                <a:latin typeface="Segoe UI"/>
              </a:rPr>
              <a:t>0</a:t>
            </a:r>
          </a:p>
        </p:txBody>
      </p:sp>
      <p:sp>
        <p:nvSpPr>
          <p:cNvPr id="30" name="TextBox 29"/>
          <p:cNvSpPr txBox="1"/>
          <p:nvPr/>
        </p:nvSpPr>
        <p:spPr>
          <a:xfrm>
            <a:off x="3611880" y="5321808"/>
            <a:ext cx="2377440" cy="365760"/>
          </a:xfrm>
          <a:prstGeom prst="rect">
            <a:avLst/>
          </a:prstGeom>
          <a:noFill/>
        </p:spPr>
        <p:txBody>
          <a:bodyPr wrap="square" anchor="t">
            <a:spAutoFit/>
          </a:bodyPr>
          <a:lstStyle/>
          <a:p>
            <a:pPr algn="ctr"/>
            <a:r>
              <a:rPr sz="1100" b="0">
                <a:solidFill>
                  <a:srgbClr val="CBD5E1"/>
                </a:solidFill>
                <a:latin typeface="Segoe UI"/>
              </a:rPr>
              <a:t>corrupted images</a:t>
            </a:r>
          </a:p>
        </p:txBody>
      </p:sp>
      <p:sp>
        <p:nvSpPr>
          <p:cNvPr id="31" name="Rectangle 30"/>
          <p:cNvSpPr/>
          <p:nvPr/>
        </p:nvSpPr>
        <p:spPr>
          <a:xfrm>
            <a:off x="6309360" y="4754880"/>
            <a:ext cx="2651760" cy="1051560"/>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4864608"/>
            <a:ext cx="2377440" cy="457200"/>
          </a:xfrm>
          <a:prstGeom prst="rect">
            <a:avLst/>
          </a:prstGeom>
          <a:noFill/>
        </p:spPr>
        <p:txBody>
          <a:bodyPr wrap="square" anchor="t">
            <a:spAutoFit/>
          </a:bodyPr>
          <a:lstStyle/>
          <a:p>
            <a:pPr algn="ctr"/>
            <a:r>
              <a:rPr sz="2000" b="1">
                <a:solidFill>
                  <a:srgbClr val="BDE8F5"/>
                </a:solidFill>
                <a:latin typeface="Segoe UI"/>
              </a:rPr>
              <a:t>8,624 / 1,848 / 1,848</a:t>
            </a:r>
          </a:p>
        </p:txBody>
      </p:sp>
      <p:sp>
        <p:nvSpPr>
          <p:cNvPr id="33" name="TextBox 32"/>
          <p:cNvSpPr txBox="1"/>
          <p:nvPr/>
        </p:nvSpPr>
        <p:spPr>
          <a:xfrm>
            <a:off x="6446520" y="5321808"/>
            <a:ext cx="2377440" cy="365760"/>
          </a:xfrm>
          <a:prstGeom prst="rect">
            <a:avLst/>
          </a:prstGeom>
          <a:noFill/>
        </p:spPr>
        <p:txBody>
          <a:bodyPr wrap="square" anchor="t">
            <a:spAutoFit/>
          </a:bodyPr>
          <a:lstStyle/>
          <a:p>
            <a:pPr algn="ctr"/>
            <a:r>
              <a:rPr sz="1100" b="0">
                <a:solidFill>
                  <a:srgbClr val="CBD5E1"/>
                </a:solidFill>
                <a:latin typeface="Segoe UI"/>
              </a:rPr>
              <a:t>train / val / test</a:t>
            </a:r>
          </a:p>
        </p:txBody>
      </p:sp>
      <p:sp>
        <p:nvSpPr>
          <p:cNvPr id="34" name="Rectangle 33"/>
          <p:cNvSpPr/>
          <p:nvPr/>
        </p:nvSpPr>
        <p:spPr>
          <a:xfrm>
            <a:off x="9144000" y="4754880"/>
            <a:ext cx="2651760" cy="1051560"/>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81160" y="4864608"/>
            <a:ext cx="2377440" cy="457200"/>
          </a:xfrm>
          <a:prstGeom prst="rect">
            <a:avLst/>
          </a:prstGeom>
          <a:noFill/>
        </p:spPr>
        <p:txBody>
          <a:bodyPr wrap="square" anchor="t">
            <a:spAutoFit/>
          </a:bodyPr>
          <a:lstStyle/>
          <a:p>
            <a:pPr algn="ctr"/>
            <a:r>
              <a:rPr sz="2000" b="1">
                <a:solidFill>
                  <a:srgbClr val="BDE8F5"/>
                </a:solidFill>
                <a:latin typeface="Segoe UI"/>
              </a:rPr>
              <a:t>2.24:1</a:t>
            </a:r>
          </a:p>
        </p:txBody>
      </p:sp>
      <p:sp>
        <p:nvSpPr>
          <p:cNvPr id="36" name="TextBox 35"/>
          <p:cNvSpPr txBox="1"/>
          <p:nvPr/>
        </p:nvSpPr>
        <p:spPr>
          <a:xfrm>
            <a:off x="9281160" y="5321808"/>
            <a:ext cx="2377440" cy="365760"/>
          </a:xfrm>
          <a:prstGeom prst="rect">
            <a:avLst/>
          </a:prstGeom>
          <a:noFill/>
        </p:spPr>
        <p:txBody>
          <a:bodyPr wrap="square" anchor="t">
            <a:spAutoFit/>
          </a:bodyPr>
          <a:lstStyle/>
          <a:p>
            <a:pPr algn="ctr"/>
            <a:r>
              <a:rPr sz="1100" b="0">
                <a:solidFill>
                  <a:srgbClr val="CBD5E1"/>
                </a:solidFill>
                <a:latin typeface="Segoe UI"/>
              </a:rPr>
              <a:t>imbalance handled</a:t>
            </a:r>
          </a:p>
        </p:txBody>
      </p:sp>
      <p:sp>
        <p:nvSpPr>
          <p:cNvPr id="37" name="TextBox 36"/>
          <p:cNvSpPr txBox="1"/>
          <p:nvPr/>
        </p:nvSpPr>
        <p:spPr>
          <a:xfrm>
            <a:off x="640080" y="6126480"/>
            <a:ext cx="10515600" cy="457200"/>
          </a:xfrm>
          <a:prstGeom prst="rect">
            <a:avLst/>
          </a:prstGeom>
          <a:noFill/>
        </p:spPr>
        <p:txBody>
          <a:bodyPr wrap="square" anchor="t">
            <a:spAutoFit/>
          </a:bodyPr>
          <a:lstStyle/>
          <a:p>
            <a:pPr algn="l"/>
            <a:r>
              <a:rPr sz="1300" b="0">
                <a:solidFill>
                  <a:srgbClr val="4988C4"/>
                </a:solidFill>
                <a:latin typeface="Segoe UI"/>
              </a:rPr>
              <a:t>Next: Milestone 3 trains four transfer-learning architectures on this verified pipeline</a:t>
            </a:r>
          </a:p>
        </p:txBody>
      </p:sp>
      <p:sp>
        <p:nvSpPr>
          <p:cNvPr id="38" name="TextBox 37"/>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4/15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2 · AUGMENTATION &amp; STRATEGY</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Medical-Appropriate Augmentation</a:t>
            </a:r>
          </a:p>
        </p:txBody>
      </p:sp>
      <p:sp>
        <p:nvSpPr>
          <p:cNvPr id="5" name="TextBox 4"/>
          <p:cNvSpPr txBox="1"/>
          <p:nvPr/>
        </p:nvSpPr>
        <p:spPr>
          <a:xfrm>
            <a:off x="640080" y="1920240"/>
            <a:ext cx="5669280" cy="4023360"/>
          </a:xfrm>
          <a:prstGeom prst="rect">
            <a:avLst/>
          </a:prstGeom>
          <a:noFill/>
        </p:spPr>
        <p:txBody>
          <a:bodyPr wrap="square">
            <a:spAutoFit/>
          </a:bodyPr>
          <a:lstStyle/>
          <a:p>
            <a:pPr>
              <a:spcAft>
                <a:spcPts val="800"/>
              </a:spcAft>
            </a:pPr>
            <a:r>
              <a:rPr sz="1400" b="1">
                <a:solidFill>
                  <a:srgbClr val="F8FAFC"/>
                </a:solidFill>
                <a:latin typeface="Segoe UI Semibold"/>
              </a:rPr>
              <a:t>Flip — </a:t>
            </a:r>
            <a:r>
              <a:rPr sz="1400">
                <a:solidFill>
                  <a:srgbClr val="CBD5E1"/>
                </a:solidFill>
                <a:latin typeface="Segoe UI"/>
              </a:rPr>
              <a:t>horizontal mirror - mirrored anatomy remains valid anatomy</a:t>
            </a:r>
          </a:p>
          <a:p>
            <a:pPr>
              <a:spcAft>
                <a:spcPts val="800"/>
              </a:spcAft>
            </a:pPr>
            <a:r>
              <a:rPr sz="1400" b="1">
                <a:solidFill>
                  <a:srgbClr val="F8FAFC"/>
                </a:solidFill>
                <a:latin typeface="Segoe UI Semibold"/>
              </a:rPr>
              <a:t>Rotation — </a:t>
            </a:r>
            <a:r>
              <a:rPr sz="1400">
                <a:solidFill>
                  <a:srgbClr val="CBD5E1"/>
                </a:solidFill>
                <a:latin typeface="Segoe UI"/>
              </a:rPr>
              <a:t>+-15 degrees - camera tilt during screening</a:t>
            </a:r>
          </a:p>
          <a:p>
            <a:pPr>
              <a:spcAft>
                <a:spcPts val="800"/>
              </a:spcAft>
            </a:pPr>
            <a:r>
              <a:rPr sz="1400" b="1">
                <a:solidFill>
                  <a:srgbClr val="F8FAFC"/>
                </a:solidFill>
                <a:latin typeface="Segoe UI Semibold"/>
              </a:rPr>
              <a:t>Zoom &amp; shift — </a:t>
            </a:r>
            <a:r>
              <a:rPr sz="1400">
                <a:solidFill>
                  <a:srgbClr val="CBD5E1"/>
                </a:solidFill>
                <a:latin typeface="Segoe UI"/>
              </a:rPr>
              <a:t>0.9-1.1x zoom, translation - distance and alignment variation</a:t>
            </a:r>
          </a:p>
          <a:p>
            <a:pPr>
              <a:spcAft>
                <a:spcPts val="800"/>
              </a:spcAft>
            </a:pPr>
            <a:r>
              <a:rPr sz="1400" b="1">
                <a:solidFill>
                  <a:srgbClr val="F8FAFC"/>
                </a:solidFill>
                <a:latin typeface="Segoe UI Semibold"/>
              </a:rPr>
              <a:t>Light &amp; contrast — </a:t>
            </a:r>
            <a:r>
              <a:rPr sz="1400">
                <a:solidFill>
                  <a:srgbClr val="CBD5E1"/>
                </a:solidFill>
                <a:latin typeface="Segoe UI"/>
              </a:rPr>
              <a:t>clinic lighting and camera exposure differences</a:t>
            </a:r>
          </a:p>
          <a:p>
            <a:pPr>
              <a:spcAft>
                <a:spcPts val="800"/>
              </a:spcAft>
            </a:pPr>
            <a:r>
              <a:rPr sz="1400" b="1">
                <a:solidFill>
                  <a:srgbClr val="F8FAFC"/>
                </a:solidFill>
                <a:latin typeface="Segoe UI Semibold"/>
              </a:rPr>
              <a:t>Mild by design — </a:t>
            </a:r>
            <a:r>
              <a:rPr sz="1400">
                <a:solidFill>
                  <a:srgbClr val="CBD5E1"/>
                </a:solidFill>
                <a:latin typeface="Segoe UI"/>
              </a:rPr>
              <a:t>aggressive warps could distort lesions - training split only</a:t>
            </a:r>
          </a:p>
          <a:p>
            <a:pPr>
              <a:spcAft>
                <a:spcPts val="800"/>
              </a:spcAft>
            </a:pPr>
            <a:r>
              <a:rPr sz="1400" b="1">
                <a:solidFill>
                  <a:srgbClr val="F8FAFC"/>
                </a:solidFill>
                <a:latin typeface="Segoe UI Semibold"/>
              </a:rPr>
              <a:t>Class weights — </a:t>
            </a:r>
            <a:r>
              <a:rPr sz="1400">
                <a:solidFill>
                  <a:srgbClr val="CBD5E1"/>
                </a:solidFill>
                <a:latin typeface="Segoe UI"/>
              </a:rPr>
              <a:t>inverse-frequency w = N / (C · n_c) — 0.73 (Ulcers) to 1.64 (Hypodontia)</a:t>
            </a:r>
          </a:p>
        </p:txBody>
      </p:sp>
      <p:pic>
        <p:nvPicPr>
          <p:cNvPr id="6" name="Picture 5" descr="augmentation_examples.png"/>
          <p:cNvPicPr>
            <a:picLocks noChangeAspect="1"/>
          </p:cNvPicPr>
          <p:nvPr/>
        </p:nvPicPr>
        <p:blipFill>
          <a:blip r:embed="rId2"/>
          <a:stretch>
            <a:fillRect/>
          </a:stretch>
        </p:blipFill>
        <p:spPr>
          <a:xfrm>
            <a:off x="6766560" y="2011680"/>
            <a:ext cx="4846320" cy="2072006"/>
          </a:xfrm>
          <a:prstGeom prst="rect">
            <a:avLst/>
          </a:prstGeom>
        </p:spPr>
      </p:pic>
      <p:sp>
        <p:nvSpPr>
          <p:cNvPr id="7" name="TextBox 6"/>
          <p:cNvSpPr txBox="1"/>
          <p:nvPr/>
        </p:nvSpPr>
        <p:spPr>
          <a:xfrm>
            <a:off x="6766560" y="5806440"/>
            <a:ext cx="4846320" cy="365760"/>
          </a:xfrm>
          <a:prstGeom prst="rect">
            <a:avLst/>
          </a:prstGeom>
          <a:noFill/>
        </p:spPr>
        <p:txBody>
          <a:bodyPr wrap="square" anchor="t">
            <a:spAutoFit/>
          </a:bodyPr>
          <a:lstStyle/>
          <a:p>
            <a:pPr algn="ctr"/>
            <a:r>
              <a:rPr sz="1000" b="0">
                <a:solidFill>
                  <a:srgbClr val="CBD5E1"/>
                </a:solidFill>
                <a:latin typeface="Segoe UI"/>
              </a:rPr>
              <a:t>One original + augmented examples (flip, rotation, zoom, shift, brightness, contrast)</a:t>
            </a:r>
          </a:p>
        </p:txBody>
      </p:sp>
      <p:sp>
        <p:nvSpPr>
          <p:cNvPr id="8" name="TextBox 7"/>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5/15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960120"/>
            <a:ext cx="128016" cy="1280160"/>
          </a:xfrm>
          <a:prstGeom prst="rect">
            <a:avLst/>
          </a:prstGeom>
          <a:solidFill>
            <a:srgbClr val="BD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457200"/>
          </a:xfrm>
          <a:prstGeom prst="rect">
            <a:avLst/>
          </a:prstGeom>
          <a:noFill/>
        </p:spPr>
        <p:txBody>
          <a:bodyPr wrap="square" anchor="t">
            <a:spAutoFit/>
          </a:bodyPr>
          <a:lstStyle/>
          <a:p>
            <a:pPr algn="l"/>
            <a:r>
              <a:rPr sz="1300" b="1">
                <a:solidFill>
                  <a:srgbClr val="4988C4"/>
                </a:solidFill>
                <a:latin typeface="Segoe UI"/>
              </a:rPr>
              <a:t>MILESTONE 3 · MODEL TRAINING BENCHMARK</a:t>
            </a:r>
          </a:p>
        </p:txBody>
      </p:sp>
      <p:sp>
        <p:nvSpPr>
          <p:cNvPr id="4" name="TextBox 3"/>
          <p:cNvSpPr txBox="1"/>
          <p:nvPr/>
        </p:nvSpPr>
        <p:spPr>
          <a:xfrm>
            <a:off x="914400" y="1325880"/>
            <a:ext cx="10789920" cy="914400"/>
          </a:xfrm>
          <a:prstGeom prst="rect">
            <a:avLst/>
          </a:prstGeom>
          <a:noFill/>
        </p:spPr>
        <p:txBody>
          <a:bodyPr wrap="square" anchor="t">
            <a:spAutoFit/>
          </a:bodyPr>
          <a:lstStyle/>
          <a:p>
            <a:pPr algn="l"/>
            <a:r>
              <a:rPr sz="3200" b="1">
                <a:solidFill>
                  <a:srgbClr val="F8FAFC"/>
                </a:solidFill>
                <a:latin typeface="Segoe UI"/>
              </a:rPr>
              <a:t>Four Architectures, One Benchmark</a:t>
            </a:r>
          </a:p>
        </p:txBody>
      </p:sp>
      <p:sp>
        <p:nvSpPr>
          <p:cNvPr id="5" name="TextBox 4"/>
          <p:cNvSpPr txBox="1"/>
          <p:nvPr/>
        </p:nvSpPr>
        <p:spPr>
          <a:xfrm>
            <a:off x="914400" y="2194560"/>
            <a:ext cx="10515600" cy="731520"/>
          </a:xfrm>
          <a:prstGeom prst="rect">
            <a:avLst/>
          </a:prstGeom>
          <a:noFill/>
        </p:spPr>
        <p:txBody>
          <a:bodyPr wrap="square" anchor="t">
            <a:spAutoFit/>
          </a:bodyPr>
          <a:lstStyle/>
          <a:p>
            <a:pPr algn="l"/>
            <a:r>
              <a:rPr sz="1500" b="0">
                <a:solidFill>
                  <a:srgbClr val="CBD5E1"/>
                </a:solidFill>
                <a:latin typeface="Segoe UI"/>
              </a:rPr>
              <a:t>Custom CNN · MobileNetV2 · EfficientNetB3 · DenseNet121 — trained on the verified Milestone 2 pipeline</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6/15</a:t>
            </a:r>
          </a:p>
        </p:txBody>
      </p:sp>
      <p:sp>
        <p:nvSpPr>
          <p:cNvPr id="7" name="Rectangle 6"/>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8" name="Rectangle 7"/>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3 · MOTIVATION</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Why Deep Learning for Oral Disease Classification?</a:t>
            </a:r>
          </a:p>
        </p:txBody>
      </p:sp>
      <p:sp>
        <p:nvSpPr>
          <p:cNvPr id="5" name="TextBox 4"/>
          <p:cNvSpPr txBox="1"/>
          <p:nvPr/>
        </p:nvSpPr>
        <p:spPr>
          <a:xfrm>
            <a:off x="640080" y="1920240"/>
            <a:ext cx="10607040" cy="4023360"/>
          </a:xfrm>
          <a:prstGeom prst="rect">
            <a:avLst/>
          </a:prstGeom>
          <a:noFill/>
        </p:spPr>
        <p:txBody>
          <a:bodyPr wrap="square">
            <a:spAutoFit/>
          </a:bodyPr>
          <a:lstStyle/>
          <a:p>
            <a:pPr>
              <a:spcAft>
                <a:spcPts val="800"/>
              </a:spcAft>
            </a:pPr>
            <a:r>
              <a:rPr sz="1400" b="1">
                <a:solidFill>
                  <a:srgbClr val="F8FAFC"/>
                </a:solidFill>
                <a:latin typeface="Segoe UI Semibold"/>
              </a:rPr>
              <a:t>Learned features — </a:t>
            </a:r>
            <a:r>
              <a:rPr sz="1400">
                <a:solidFill>
                  <a:srgbClr val="CBD5E1"/>
                </a:solidFill>
                <a:latin typeface="Segoe UI"/>
              </a:rPr>
              <a:t>no manual feature engineering for lesion texture/color cues</a:t>
            </a:r>
          </a:p>
          <a:p>
            <a:pPr>
              <a:spcAft>
                <a:spcPts val="800"/>
              </a:spcAft>
            </a:pPr>
            <a:r>
              <a:rPr sz="1400" b="1">
                <a:solidFill>
                  <a:srgbClr val="F8FAFC"/>
                </a:solidFill>
                <a:latin typeface="Segoe UI Semibold"/>
              </a:rPr>
              <a:t>Translation invariance — </a:t>
            </a:r>
            <a:r>
              <a:rPr sz="1400">
                <a:solidFill>
                  <a:srgbClr val="CBD5E1"/>
                </a:solidFill>
                <a:latin typeface="Segoe UI"/>
              </a:rPr>
              <a:t>disease can appear anywhere in the oral cavity frame</a:t>
            </a:r>
          </a:p>
          <a:p>
            <a:pPr>
              <a:spcAft>
                <a:spcPts val="800"/>
              </a:spcAft>
            </a:pPr>
            <a:r>
              <a:rPr sz="1400" b="1">
                <a:solidFill>
                  <a:srgbClr val="F8FAFC"/>
                </a:solidFill>
                <a:latin typeface="Segoe UI Semibold"/>
              </a:rPr>
              <a:t>Hierarchical abstraction — </a:t>
            </a:r>
            <a:r>
              <a:rPr sz="1400">
                <a:solidFill>
                  <a:srgbClr val="CBD5E1"/>
                </a:solidFill>
                <a:latin typeface="Segoe UI"/>
              </a:rPr>
              <a:t>edges → textures → lesion-level patterns</a:t>
            </a:r>
          </a:p>
          <a:p>
            <a:pPr>
              <a:spcAft>
                <a:spcPts val="800"/>
              </a:spcAft>
            </a:pPr>
            <a:r>
              <a:rPr sz="1400" b="1">
                <a:solidFill>
                  <a:srgbClr val="F8FAFC"/>
                </a:solidFill>
                <a:latin typeface="Segoe UI Semibold"/>
              </a:rPr>
              <a:t>Transfer learning — </a:t>
            </a:r>
            <a:r>
              <a:rPr sz="1400">
                <a:solidFill>
                  <a:srgbClr val="CBD5E1"/>
                </a:solidFill>
                <a:latin typeface="Segoe UI"/>
              </a:rPr>
              <a:t>small medical datasets still reach strong accuracy</a:t>
            </a:r>
          </a:p>
          <a:p>
            <a:pPr>
              <a:spcAft>
                <a:spcPts val="800"/>
              </a:spcAft>
            </a:pPr>
            <a:r>
              <a:rPr sz="1400" b="1">
                <a:solidFill>
                  <a:srgbClr val="F8FAFC"/>
                </a:solidFill>
                <a:latin typeface="Segoe UI Semibold"/>
              </a:rPr>
              <a:t>Reference evidence — </a:t>
            </a:r>
            <a:r>
              <a:rPr sz="1400">
                <a:solidFill>
                  <a:srgbClr val="CBD5E1"/>
                </a:solidFill>
                <a:latin typeface="Segoe UI"/>
              </a:rPr>
              <a:t>baseline CNN ≈84% → top models &gt;92% validation accuracy</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7/15</a:t>
            </a:r>
          </a:p>
        </p:txBody>
      </p:sp>
      <p:sp>
        <p:nvSpPr>
          <p:cNvPr id="7" name="Rectangle 6"/>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8" name="Rectangle 7"/>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3 · TRANSFER LEARNING</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Transfer Learning Explained</a:t>
            </a:r>
          </a:p>
        </p:txBody>
      </p:sp>
      <p:sp>
        <p:nvSpPr>
          <p:cNvPr id="5" name="TextBox 4"/>
          <p:cNvSpPr txBox="1"/>
          <p:nvPr/>
        </p:nvSpPr>
        <p:spPr>
          <a:xfrm>
            <a:off x="640080" y="1920240"/>
            <a:ext cx="10607040" cy="4023360"/>
          </a:xfrm>
          <a:prstGeom prst="rect">
            <a:avLst/>
          </a:prstGeom>
          <a:noFill/>
        </p:spPr>
        <p:txBody>
          <a:bodyPr wrap="square">
            <a:spAutoFit/>
          </a:bodyPr>
          <a:lstStyle/>
          <a:p>
            <a:pPr>
              <a:spcAft>
                <a:spcPts val="800"/>
              </a:spcAft>
            </a:pPr>
            <a:r>
              <a:rPr sz="1400" b="1">
                <a:solidFill>
                  <a:srgbClr val="F8FAFC"/>
                </a:solidFill>
                <a:latin typeface="Segoe UI Semibold"/>
              </a:rPr>
              <a:t>The problem — </a:t>
            </a:r>
            <a:r>
              <a:rPr sz="1400">
                <a:solidFill>
                  <a:srgbClr val="CBD5E1"/>
                </a:solidFill>
                <a:latin typeface="Segoe UI"/>
              </a:rPr>
              <a:t>medical datasets are small; training from scratch overfits</a:t>
            </a:r>
          </a:p>
          <a:p>
            <a:pPr>
              <a:spcAft>
                <a:spcPts val="800"/>
              </a:spcAft>
            </a:pPr>
            <a:r>
              <a:rPr sz="1400" b="1">
                <a:solidFill>
                  <a:srgbClr val="F8FAFC"/>
                </a:solidFill>
                <a:latin typeface="Segoe UI Semibold"/>
              </a:rPr>
              <a:t>The idea — </a:t>
            </a:r>
            <a:r>
              <a:rPr sz="1400">
                <a:solidFill>
                  <a:srgbClr val="CBD5E1"/>
                </a:solidFill>
                <a:latin typeface="Segoe UI"/>
              </a:rPr>
              <a:t>reuse ImageNet weights — early layers encode generic edges/colors/textures</a:t>
            </a:r>
          </a:p>
          <a:p>
            <a:pPr>
              <a:spcAft>
                <a:spcPts val="800"/>
              </a:spcAft>
            </a:pPr>
            <a:r>
              <a:rPr sz="1400" b="1">
                <a:solidFill>
                  <a:srgbClr val="F8FAFC"/>
                </a:solidFill>
                <a:latin typeface="Segoe UI Semibold"/>
              </a:rPr>
              <a:t>Recipe — </a:t>
            </a:r>
            <a:r>
              <a:rPr sz="1400">
                <a:solidFill>
                  <a:srgbClr val="CBD5E1"/>
                </a:solidFill>
                <a:latin typeface="Segoe UI"/>
              </a:rPr>
              <a:t>load backbone (no top) → freeze → attach head → train head</a:t>
            </a:r>
          </a:p>
          <a:p>
            <a:pPr>
              <a:spcAft>
                <a:spcPts val="800"/>
              </a:spcAft>
            </a:pPr>
            <a:r>
              <a:rPr sz="1400" b="1">
                <a:solidFill>
                  <a:srgbClr val="F8FAFC"/>
                </a:solidFill>
                <a:latin typeface="Segoe UI Semibold"/>
              </a:rPr>
              <a:t>Fine-tune — </a:t>
            </a:r>
            <a:r>
              <a:rPr sz="1400">
                <a:solidFill>
                  <a:srgbClr val="CBD5E1"/>
                </a:solidFill>
                <a:latin typeface="Segoe UI"/>
              </a:rPr>
              <a:t>unfreeze top layers at a 10× lower learning rate</a:t>
            </a:r>
          </a:p>
          <a:p>
            <a:pPr>
              <a:spcAft>
                <a:spcPts val="800"/>
              </a:spcAft>
            </a:pPr>
            <a:r>
              <a:rPr sz="1400" b="1">
                <a:solidFill>
                  <a:srgbClr val="F8FAFC"/>
                </a:solidFill>
                <a:latin typeface="Segoe UI Semibold"/>
              </a:rPr>
              <a:t>Partial unfreezing — </a:t>
            </a:r>
            <a:r>
              <a:rPr sz="1400">
                <a:solidFill>
                  <a:srgbClr val="CBD5E1"/>
                </a:solidFill>
                <a:latin typeface="Segoe UI"/>
              </a:rPr>
              <a:t>early filters transfer as-is; only task-specific blocks adapt</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8/15</a:t>
            </a:r>
          </a:p>
        </p:txBody>
      </p:sp>
      <p:sp>
        <p:nvSpPr>
          <p:cNvPr id="7" name="Rectangle 6"/>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8" name="Rectangle 7"/>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3 · MODEL 1 · BASELINE</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Custom CNN — From-Scratch Baseline</a:t>
            </a:r>
          </a:p>
        </p:txBody>
      </p:sp>
      <p:sp>
        <p:nvSpPr>
          <p:cNvPr id="5" name="TextBox 4"/>
          <p:cNvSpPr txBox="1"/>
          <p:nvPr/>
        </p:nvSpPr>
        <p:spPr>
          <a:xfrm>
            <a:off x="640080" y="1920240"/>
            <a:ext cx="10607040" cy="4023360"/>
          </a:xfrm>
          <a:prstGeom prst="rect">
            <a:avLst/>
          </a:prstGeom>
          <a:noFill/>
        </p:spPr>
        <p:txBody>
          <a:bodyPr wrap="square">
            <a:spAutoFit/>
          </a:bodyPr>
          <a:lstStyle/>
          <a:p>
            <a:pPr>
              <a:spcAft>
                <a:spcPts val="800"/>
              </a:spcAft>
            </a:pPr>
            <a:r>
              <a:rPr sz="1400" b="1">
                <a:solidFill>
                  <a:srgbClr val="F8FAFC"/>
                </a:solidFill>
                <a:latin typeface="Segoe UI Semibold"/>
              </a:rPr>
              <a:t>Why — </a:t>
            </a:r>
            <a:r>
              <a:rPr sz="1400">
                <a:solidFill>
                  <a:srgbClr val="CBD5E1"/>
                </a:solidFill>
                <a:latin typeface="Segoe UI"/>
              </a:rPr>
              <a:t>quantifies how much transfer learning actually helps on our data</a:t>
            </a:r>
          </a:p>
          <a:p>
            <a:pPr>
              <a:spcAft>
                <a:spcPts val="800"/>
              </a:spcAft>
            </a:pPr>
            <a:r>
              <a:rPr sz="1400" b="1">
                <a:solidFill>
                  <a:srgbClr val="F8FAFC"/>
                </a:solidFill>
                <a:latin typeface="Segoe UI Semibold"/>
              </a:rPr>
              <a:t>Design — </a:t>
            </a:r>
            <a:r>
              <a:rPr sz="1400">
                <a:solidFill>
                  <a:srgbClr val="CBD5E1"/>
                </a:solidFill>
                <a:latin typeface="Segoe UI"/>
              </a:rPr>
              <a:t>augmentation + rescaling [0,1] embedded in the model</a:t>
            </a:r>
          </a:p>
          <a:p>
            <a:pPr>
              <a:spcAft>
                <a:spcPts val="800"/>
              </a:spcAft>
            </a:pPr>
            <a:r>
              <a:rPr sz="1400" b="1">
                <a:solidFill>
                  <a:srgbClr val="F8FAFC"/>
                </a:solidFill>
                <a:latin typeface="Segoe UI Semibold"/>
              </a:rPr>
              <a:t>Strength — </a:t>
            </a:r>
            <a:r>
              <a:rPr sz="1400">
                <a:solidFill>
                  <a:srgbClr val="CBD5E1"/>
                </a:solidFill>
                <a:latin typeface="Segoe UI"/>
              </a:rPr>
              <a:t>small, fast, fully transparent — every weight learned from our data</a:t>
            </a:r>
          </a:p>
          <a:p>
            <a:pPr>
              <a:spcAft>
                <a:spcPts val="800"/>
              </a:spcAft>
            </a:pPr>
            <a:r>
              <a:rPr sz="1400" b="1">
                <a:solidFill>
                  <a:srgbClr val="F8FAFC"/>
                </a:solidFill>
                <a:latin typeface="Segoe UI Semibold"/>
              </a:rPr>
              <a:t>Limit — </a:t>
            </a:r>
            <a:r>
              <a:rPr sz="1400">
                <a:solidFill>
                  <a:srgbClr val="CBD5E1"/>
                </a:solidFill>
                <a:latin typeface="Segoe UI"/>
              </a:rPr>
              <a:t>Flatten→Dense(256) = 12.8M params — most overfitting-prone part</a:t>
            </a:r>
          </a:p>
          <a:p>
            <a:pPr>
              <a:spcAft>
                <a:spcPts val="800"/>
              </a:spcAft>
            </a:pPr>
            <a:r>
              <a:rPr sz="1400" b="1">
                <a:solidFill>
                  <a:srgbClr val="F8FAFC"/>
                </a:solidFill>
                <a:latin typeface="Segoe UI Semibold"/>
              </a:rPr>
              <a:t>Role — </a:t>
            </a:r>
            <a:r>
              <a:rPr sz="1400">
                <a:solidFill>
                  <a:srgbClr val="CBD5E1"/>
                </a:solidFill>
                <a:latin typeface="Segoe UI"/>
              </a:rPr>
              <a:t>establishes the performance floor for the benchmark</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9/15</a:t>
            </a:r>
          </a:p>
        </p:txBody>
      </p:sp>
      <p:sp>
        <p:nvSpPr>
          <p:cNvPr id="7" name="Rectangle 6"/>
          <p:cNvSpPr/>
          <p:nvPr/>
        </p:nvSpPr>
        <p:spPr>
          <a:xfrm>
            <a:off x="640080" y="5806440"/>
            <a:ext cx="5943600" cy="384048"/>
          </a:xfrm>
          <a:prstGeom prst="rect">
            <a:avLst/>
          </a:prstGeom>
          <a:solidFill>
            <a:srgbClr val="1A3A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4CD98C"/>
                </a:solidFill>
                <a:latin typeface="Segoe UI Semibold"/>
              </a:rPr>
              <a:t>REFERENCE BENCHMARK: Custom CNN · 83.97% validation accuracy</a:t>
            </a:r>
          </a:p>
        </p:txBody>
      </p:sp>
      <p:sp>
        <p:nvSpPr>
          <p:cNvPr id="8" name="TextBox 7"/>
          <p:cNvSpPr txBox="1"/>
          <p:nvPr/>
        </p:nvSpPr>
        <p:spPr>
          <a:xfrm>
            <a:off x="640080" y="1874519"/>
            <a:ext cx="10607040" cy="365760"/>
          </a:xfrm>
          <a:prstGeom prst="rect">
            <a:avLst/>
          </a:prstGeom>
          <a:noFill/>
        </p:spPr>
        <p:txBody>
          <a:bodyPr wrap="square" anchor="t">
            <a:spAutoFit/>
          </a:bodyPr>
          <a:lstStyle/>
          <a:p>
            <a:pPr algn="l"/>
            <a:r>
              <a:rPr sz="1300" b="0">
                <a:solidFill>
                  <a:srgbClr val="CBD5E1"/>
                </a:solidFill>
                <a:latin typeface="Segoe UI"/>
              </a:rPr>
              <a:t>4 conv blocks (32→64→128→256) + BatchNorm + MaxPool · Dense(256) · Dropout 0.4</a:t>
            </a:r>
          </a:p>
        </p:txBody>
      </p:sp>
      <p:sp>
        <p:nvSpPr>
          <p:cNvPr id="9" name="Rectangle 8"/>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10" name="Rectangle 9"/>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3 · MODEL 2 · LIGHTWEIGHT</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MobileNetV2 — Lightweight Transfer Learning</a:t>
            </a:r>
          </a:p>
        </p:txBody>
      </p:sp>
      <p:sp>
        <p:nvSpPr>
          <p:cNvPr id="5" name="TextBox 4"/>
          <p:cNvSpPr txBox="1"/>
          <p:nvPr/>
        </p:nvSpPr>
        <p:spPr>
          <a:xfrm>
            <a:off x="640080" y="1920240"/>
            <a:ext cx="10607040" cy="4023360"/>
          </a:xfrm>
          <a:prstGeom prst="rect">
            <a:avLst/>
          </a:prstGeom>
          <a:noFill/>
        </p:spPr>
        <p:txBody>
          <a:bodyPr wrap="square">
            <a:spAutoFit/>
          </a:bodyPr>
          <a:lstStyle/>
          <a:p>
            <a:pPr>
              <a:spcAft>
                <a:spcPts val="800"/>
              </a:spcAft>
            </a:pPr>
            <a:r>
              <a:rPr sz="1400" b="1">
                <a:solidFill>
                  <a:srgbClr val="F8FAFC"/>
                </a:solidFill>
                <a:latin typeface="Segoe UI Semibold"/>
              </a:rPr>
              <a:t>Why — </a:t>
            </a:r>
            <a:r>
              <a:rPr sz="1400">
                <a:solidFill>
                  <a:srgbClr val="CBD5E1"/>
                </a:solidFill>
                <a:latin typeface="Segoe UI"/>
              </a:rPr>
              <a:t>the efficiency probe — how far does a deployable mobile network go?</a:t>
            </a:r>
          </a:p>
          <a:p>
            <a:pPr>
              <a:spcAft>
                <a:spcPts val="800"/>
              </a:spcAft>
            </a:pPr>
            <a:r>
              <a:rPr sz="1400" b="1">
                <a:solidFill>
                  <a:srgbClr val="F8FAFC"/>
                </a:solidFill>
                <a:latin typeface="Segoe UI Semibold"/>
              </a:rPr>
              <a:t>Phase 1 — </a:t>
            </a:r>
            <a:r>
              <a:rPr sz="1400">
                <a:solidFill>
                  <a:srgbClr val="CBD5E1"/>
                </a:solidFill>
                <a:latin typeface="Segoe UI"/>
              </a:rPr>
              <a:t>backbone frozen, head trained at 5e-4 (15 epochs)</a:t>
            </a:r>
          </a:p>
          <a:p>
            <a:pPr>
              <a:spcAft>
                <a:spcPts val="800"/>
              </a:spcAft>
            </a:pPr>
            <a:r>
              <a:rPr sz="1400" b="1">
                <a:solidFill>
                  <a:srgbClr val="F8FAFC"/>
                </a:solidFill>
                <a:latin typeface="Segoe UI Semibold"/>
              </a:rPr>
              <a:t>Phase 2 — </a:t>
            </a:r>
            <a:r>
              <a:rPr sz="1400">
                <a:solidFill>
                  <a:srgbClr val="CBD5E1"/>
                </a:solidFill>
                <a:latin typeface="Segoe UI"/>
              </a:rPr>
              <a:t>full fine-tuning at 1e-5 — 10× lower LR (15 epochs)</a:t>
            </a:r>
          </a:p>
          <a:p>
            <a:pPr>
              <a:spcAft>
                <a:spcPts val="800"/>
              </a:spcAft>
            </a:pPr>
            <a:r>
              <a:rPr sz="1400" b="1">
                <a:solidFill>
                  <a:srgbClr val="F8FAFC"/>
                </a:solidFill>
                <a:latin typeface="Segoe UI Semibold"/>
              </a:rPr>
              <a:t>Preprocessing — </a:t>
            </a:r>
            <a:r>
              <a:rPr sz="1400">
                <a:solidFill>
                  <a:srgbClr val="CBD5E1"/>
                </a:solidFill>
                <a:latin typeface="Segoe UI"/>
              </a:rPr>
              <a:t>pixels rescaled to [-1, 1] — MobileNetV2 input contract</a:t>
            </a:r>
          </a:p>
          <a:p>
            <a:pPr>
              <a:spcAft>
                <a:spcPts val="800"/>
              </a:spcAft>
            </a:pPr>
            <a:r>
              <a:rPr sz="1400" b="1">
                <a:solidFill>
                  <a:srgbClr val="F8FAFC"/>
                </a:solidFill>
                <a:latin typeface="Segoe UI Semibold"/>
              </a:rPr>
              <a:t>Strength — </a:t>
            </a:r>
            <a:r>
              <a:rPr sz="1400">
                <a:solidFill>
                  <a:srgbClr val="CBD5E1"/>
                </a:solidFill>
                <a:latin typeface="Segoe UI"/>
              </a:rPr>
              <a:t>smallest model — the cheapest to deploy</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10/15</a:t>
            </a:r>
          </a:p>
        </p:txBody>
      </p:sp>
      <p:sp>
        <p:nvSpPr>
          <p:cNvPr id="7" name="Rectangle 6"/>
          <p:cNvSpPr/>
          <p:nvPr/>
        </p:nvSpPr>
        <p:spPr>
          <a:xfrm>
            <a:off x="640080" y="5806440"/>
            <a:ext cx="5943600" cy="384048"/>
          </a:xfrm>
          <a:prstGeom prst="rect">
            <a:avLst/>
          </a:prstGeom>
          <a:solidFill>
            <a:srgbClr val="1A3A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4CD98C"/>
                </a:solidFill>
                <a:latin typeface="Segoe UI Semibold"/>
              </a:rPr>
              <a:t>REFERENCE BENCHMARK: MobileNetV2 (fine-tuned) · 89.57% validation accuracy</a:t>
            </a:r>
          </a:p>
        </p:txBody>
      </p:sp>
      <p:sp>
        <p:nvSpPr>
          <p:cNvPr id="8" name="TextBox 7"/>
          <p:cNvSpPr txBox="1"/>
          <p:nvPr/>
        </p:nvSpPr>
        <p:spPr>
          <a:xfrm>
            <a:off x="640080" y="1874519"/>
            <a:ext cx="10607040" cy="365760"/>
          </a:xfrm>
          <a:prstGeom prst="rect">
            <a:avLst/>
          </a:prstGeom>
          <a:noFill/>
        </p:spPr>
        <p:txBody>
          <a:bodyPr wrap="square" anchor="t">
            <a:spAutoFit/>
          </a:bodyPr>
          <a:lstStyle/>
          <a:p>
            <a:pPr algn="l"/>
            <a:r>
              <a:rPr sz="1300" b="0">
                <a:solidFill>
                  <a:srgbClr val="CBD5E1"/>
                </a:solidFill>
                <a:latin typeface="Segoe UI"/>
              </a:rPr>
              <a:t>2.26M-param mobile backbone · two-phase training · head Dense(256) · Dropout 0.3</a:t>
            </a:r>
          </a:p>
        </p:txBody>
      </p:sp>
      <p:sp>
        <p:nvSpPr>
          <p:cNvPr id="9" name="Rectangle 8"/>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10" name="Rectangle 9"/>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3 · MODEL 3 · DEEP</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EfficientNetB3 — Deep Transfer Learning</a:t>
            </a:r>
          </a:p>
        </p:txBody>
      </p:sp>
      <p:sp>
        <p:nvSpPr>
          <p:cNvPr id="5" name="TextBox 4"/>
          <p:cNvSpPr txBox="1"/>
          <p:nvPr/>
        </p:nvSpPr>
        <p:spPr>
          <a:xfrm>
            <a:off x="640080" y="1920240"/>
            <a:ext cx="10607040" cy="4023360"/>
          </a:xfrm>
          <a:prstGeom prst="rect">
            <a:avLst/>
          </a:prstGeom>
          <a:noFill/>
        </p:spPr>
        <p:txBody>
          <a:bodyPr wrap="square">
            <a:spAutoFit/>
          </a:bodyPr>
          <a:lstStyle/>
          <a:p>
            <a:pPr>
              <a:spcAft>
                <a:spcPts val="800"/>
              </a:spcAft>
            </a:pPr>
            <a:r>
              <a:rPr sz="1400" b="1">
                <a:solidFill>
                  <a:srgbClr val="F8FAFC"/>
                </a:solidFill>
                <a:latin typeface="Segoe UI Semibold"/>
              </a:rPr>
              <a:t>Why — </a:t>
            </a:r>
            <a:r>
              <a:rPr sz="1400">
                <a:solidFill>
                  <a:srgbClr val="CBD5E1"/>
                </a:solidFill>
                <a:latin typeface="Segoe UI"/>
              </a:rPr>
              <a:t>compound scaling (depth/width/resolution) — SOTA accuracy per parameter</a:t>
            </a:r>
          </a:p>
          <a:p>
            <a:pPr>
              <a:spcAft>
                <a:spcPts val="800"/>
              </a:spcAft>
            </a:pPr>
            <a:r>
              <a:rPr sz="1400" b="1">
                <a:solidFill>
                  <a:srgbClr val="F8FAFC"/>
                </a:solidFill>
                <a:latin typeface="Segoe UI Semibold"/>
              </a:rPr>
              <a:t>Fine-tune — </a:t>
            </a:r>
            <a:r>
              <a:rPr sz="1400">
                <a:solidFill>
                  <a:srgbClr val="CBD5E1"/>
                </a:solidFill>
                <a:latin typeface="Segoe UI"/>
              </a:rPr>
              <a:t>top 50 layers at 1e-4 — early generic filters stay frozen</a:t>
            </a:r>
          </a:p>
          <a:p>
            <a:pPr>
              <a:spcAft>
                <a:spcPts val="800"/>
              </a:spcAft>
            </a:pPr>
            <a:r>
              <a:rPr sz="1400" b="1">
                <a:solidFill>
                  <a:srgbClr val="F8FAFC"/>
                </a:solidFill>
                <a:latin typeface="Segoe UI Semibold"/>
              </a:rPr>
              <a:t>Augmentation — </a:t>
            </a:r>
            <a:r>
              <a:rPr sz="1400">
                <a:solidFill>
                  <a:srgbClr val="CBD5E1"/>
                </a:solidFill>
                <a:latin typeface="Segoe UI"/>
              </a:rPr>
              <a:t>more aggressive (rotation/zoom 0.2) to match capacity</a:t>
            </a:r>
          </a:p>
          <a:p>
            <a:pPr>
              <a:spcAft>
                <a:spcPts val="800"/>
              </a:spcAft>
            </a:pPr>
            <a:r>
              <a:rPr sz="1400" b="1">
                <a:solidFill>
                  <a:srgbClr val="F8FAFC"/>
                </a:solidFill>
                <a:latin typeface="Segoe UI Semibold"/>
              </a:rPr>
              <a:t>Preprocessing — </a:t>
            </a:r>
            <a:r>
              <a:rPr sz="1400">
                <a:solidFill>
                  <a:srgbClr val="CBD5E1"/>
                </a:solidFill>
                <a:latin typeface="Segoe UI"/>
              </a:rPr>
              <a:t>built-in normalization — M2 [0,255] contract works directly</a:t>
            </a:r>
          </a:p>
          <a:p>
            <a:pPr>
              <a:spcAft>
                <a:spcPts val="800"/>
              </a:spcAft>
            </a:pPr>
            <a:r>
              <a:rPr sz="1400" b="1">
                <a:solidFill>
                  <a:srgbClr val="F8FAFC"/>
                </a:solidFill>
                <a:latin typeface="Segoe UI Semibold"/>
              </a:rPr>
              <a:t>Limit — </a:t>
            </a:r>
            <a:r>
              <a:rPr sz="1400">
                <a:solidFill>
                  <a:srgbClr val="CBD5E1"/>
                </a:solidFill>
                <a:latin typeface="Segoe UI"/>
              </a:rPr>
              <a:t>deepest model — slowest to train and serve</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11/15</a:t>
            </a:r>
          </a:p>
        </p:txBody>
      </p:sp>
      <p:sp>
        <p:nvSpPr>
          <p:cNvPr id="7" name="Rectangle 6"/>
          <p:cNvSpPr/>
          <p:nvPr/>
        </p:nvSpPr>
        <p:spPr>
          <a:xfrm>
            <a:off x="640080" y="5806440"/>
            <a:ext cx="5943600" cy="384048"/>
          </a:xfrm>
          <a:prstGeom prst="rect">
            <a:avLst/>
          </a:prstGeom>
          <a:solidFill>
            <a:srgbClr val="1A3A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4CD98C"/>
                </a:solidFill>
                <a:latin typeface="Segoe UI Semibold"/>
              </a:rPr>
              <a:t>REFERENCE BENCHMARK: EfficientNetB3 · 93.02% validation accuracy (champion)</a:t>
            </a:r>
          </a:p>
        </p:txBody>
      </p:sp>
      <p:sp>
        <p:nvSpPr>
          <p:cNvPr id="8" name="TextBox 7"/>
          <p:cNvSpPr txBox="1"/>
          <p:nvPr/>
        </p:nvSpPr>
        <p:spPr>
          <a:xfrm>
            <a:off x="640080" y="1874519"/>
            <a:ext cx="10607040" cy="365760"/>
          </a:xfrm>
          <a:prstGeom prst="rect">
            <a:avLst/>
          </a:prstGeom>
          <a:noFill/>
        </p:spPr>
        <p:txBody>
          <a:bodyPr wrap="square" anchor="t">
            <a:spAutoFit/>
          </a:bodyPr>
          <a:lstStyle/>
          <a:p>
            <a:pPr algn="l"/>
            <a:r>
              <a:rPr sz="1300" b="0">
                <a:solidFill>
                  <a:srgbClr val="CBD5E1"/>
                </a:solidFill>
                <a:latin typeface="Segoe UI"/>
              </a:rPr>
              <a:t>Compound-scaled backbone (~10.7M) · top-50 unfrozen · head Dense(512) · Dropout 0.4</a:t>
            </a:r>
          </a:p>
        </p:txBody>
      </p:sp>
      <p:sp>
        <p:nvSpPr>
          <p:cNvPr id="9" name="Rectangle 8"/>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10" name="Rectangle 9"/>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3 · MODEL 4 · MEDICAL STANDARD</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DenseNet121 — Dense-Connected Standard</a:t>
            </a:r>
          </a:p>
        </p:txBody>
      </p:sp>
      <p:sp>
        <p:nvSpPr>
          <p:cNvPr id="5" name="TextBox 4"/>
          <p:cNvSpPr txBox="1"/>
          <p:nvPr/>
        </p:nvSpPr>
        <p:spPr>
          <a:xfrm>
            <a:off x="640080" y="1920240"/>
            <a:ext cx="10607040" cy="4023360"/>
          </a:xfrm>
          <a:prstGeom prst="rect">
            <a:avLst/>
          </a:prstGeom>
          <a:noFill/>
        </p:spPr>
        <p:txBody>
          <a:bodyPr wrap="square">
            <a:spAutoFit/>
          </a:bodyPr>
          <a:lstStyle/>
          <a:p>
            <a:pPr>
              <a:spcAft>
                <a:spcPts val="800"/>
              </a:spcAft>
            </a:pPr>
            <a:r>
              <a:rPr sz="1400" b="1">
                <a:solidFill>
                  <a:srgbClr val="F8FAFC"/>
                </a:solidFill>
                <a:latin typeface="Segoe UI Semibold"/>
              </a:rPr>
              <a:t>Why — </a:t>
            </a:r>
            <a:r>
              <a:rPr sz="1400">
                <a:solidFill>
                  <a:srgbClr val="CBD5E1"/>
                </a:solidFill>
                <a:latin typeface="Segoe UI"/>
              </a:rPr>
              <a:t>dense connectivity resists vanishing gradients — popular in medical imaging</a:t>
            </a:r>
          </a:p>
          <a:p>
            <a:pPr>
              <a:spcAft>
                <a:spcPts val="800"/>
              </a:spcAft>
            </a:pPr>
            <a:r>
              <a:rPr sz="1400" b="1">
                <a:solidFill>
                  <a:srgbClr val="F8FAFC"/>
                </a:solidFill>
                <a:latin typeface="Segoe UI Semibold"/>
              </a:rPr>
              <a:t>Fine-tune — </a:t>
            </a:r>
            <a:r>
              <a:rPr sz="1400">
                <a:solidFill>
                  <a:srgbClr val="CBD5E1"/>
                </a:solidFill>
                <a:latin typeface="Segoe UI"/>
              </a:rPr>
              <a:t>last 40 layers at 1e-4 — early blocks keep generic filters</a:t>
            </a:r>
          </a:p>
          <a:p>
            <a:pPr>
              <a:spcAft>
                <a:spcPts val="800"/>
              </a:spcAft>
            </a:pPr>
            <a:r>
              <a:rPr sz="1400" b="1">
                <a:solidFill>
                  <a:srgbClr val="F8FAFC"/>
                </a:solidFill>
                <a:latin typeface="Segoe UI Semibold"/>
              </a:rPr>
              <a:t>Smart LR — </a:t>
            </a:r>
            <a:r>
              <a:rPr sz="1400">
                <a:solidFill>
                  <a:srgbClr val="CBD5E1"/>
                </a:solidFill>
                <a:latin typeface="Segoe UI"/>
              </a:rPr>
              <a:t>ReduceLROnPlateau (factor 0.3, patience 3) — keeps improving</a:t>
            </a:r>
          </a:p>
          <a:p>
            <a:pPr>
              <a:spcAft>
                <a:spcPts val="800"/>
              </a:spcAft>
            </a:pPr>
            <a:r>
              <a:rPr sz="1400" b="1">
                <a:solidFill>
                  <a:srgbClr val="F8FAFC"/>
                </a:solidFill>
                <a:latin typeface="Segoe UI Semibold"/>
              </a:rPr>
              <a:t>Augmentation — </a:t>
            </a:r>
            <a:r>
              <a:rPr sz="1400">
                <a:solidFill>
                  <a:srgbClr val="CBD5E1"/>
                </a:solidFill>
                <a:latin typeface="Segoe UI"/>
              </a:rPr>
              <a:t>includes RandomContrast — teeth/gum color cues</a:t>
            </a:r>
          </a:p>
          <a:p>
            <a:pPr>
              <a:spcAft>
                <a:spcPts val="800"/>
              </a:spcAft>
            </a:pPr>
            <a:r>
              <a:rPr sz="1400" b="1">
                <a:solidFill>
                  <a:srgbClr val="F8FAFC"/>
                </a:solidFill>
                <a:latin typeface="Segoe UI Semibold"/>
              </a:rPr>
              <a:t>Limit — </a:t>
            </a:r>
            <a:r>
              <a:rPr sz="1400">
                <a:solidFill>
                  <a:srgbClr val="CBD5E1"/>
                </a:solidFill>
                <a:latin typeface="Segoe UI"/>
              </a:rPr>
              <a:t>heavy backbone — slower than the lightweight models</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12/15</a:t>
            </a:r>
          </a:p>
        </p:txBody>
      </p:sp>
      <p:sp>
        <p:nvSpPr>
          <p:cNvPr id="7" name="Rectangle 6"/>
          <p:cNvSpPr/>
          <p:nvPr/>
        </p:nvSpPr>
        <p:spPr>
          <a:xfrm>
            <a:off x="640080" y="5806440"/>
            <a:ext cx="5943600" cy="384048"/>
          </a:xfrm>
          <a:prstGeom prst="rect">
            <a:avLst/>
          </a:prstGeom>
          <a:solidFill>
            <a:srgbClr val="1A3A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4CD98C"/>
                </a:solidFill>
                <a:latin typeface="Segoe UI Semibold"/>
              </a:rPr>
              <a:t>REFERENCE BENCHMARK: DenseNet121 · 92.57% validation accuracy (close second)</a:t>
            </a:r>
          </a:p>
        </p:txBody>
      </p:sp>
      <p:sp>
        <p:nvSpPr>
          <p:cNvPr id="8" name="TextBox 7"/>
          <p:cNvSpPr txBox="1"/>
          <p:nvPr/>
        </p:nvSpPr>
        <p:spPr>
          <a:xfrm>
            <a:off x="640080" y="1874519"/>
            <a:ext cx="10607040" cy="365760"/>
          </a:xfrm>
          <a:prstGeom prst="rect">
            <a:avLst/>
          </a:prstGeom>
          <a:noFill/>
        </p:spPr>
        <p:txBody>
          <a:bodyPr wrap="square" anchor="t">
            <a:spAutoFit/>
          </a:bodyPr>
          <a:lstStyle/>
          <a:p>
            <a:pPr algn="l"/>
            <a:r>
              <a:rPr sz="1300" b="0">
                <a:solidFill>
                  <a:srgbClr val="CBD5E1"/>
                </a:solidFill>
                <a:latin typeface="Segoe UI"/>
              </a:rPr>
              <a:t>Dense feature reuse (~7M) · last-40 unfrozen · LR annealing · head Dense(512) · Dropout 0.5</a:t>
            </a:r>
          </a:p>
        </p:txBody>
      </p:sp>
      <p:sp>
        <p:nvSpPr>
          <p:cNvPr id="9" name="Rectangle 8"/>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10" name="Rectangle 9"/>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3 · REFERENCE BENCHMARK RESULTS</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Model Comparison — Reference Implementation Results</a:t>
            </a:r>
          </a:p>
        </p:txBody>
      </p:sp>
      <p:sp>
        <p:nvSpPr>
          <p:cNvPr id="5" name="TextBox 4"/>
          <p:cNvSpPr txBox="1"/>
          <p:nvPr/>
        </p:nvSpPr>
        <p:spPr>
          <a:xfrm>
            <a:off x="640080" y="1783080"/>
            <a:ext cx="10607040" cy="457200"/>
          </a:xfrm>
          <a:prstGeom prst="rect">
            <a:avLst/>
          </a:prstGeom>
          <a:noFill/>
        </p:spPr>
        <p:txBody>
          <a:bodyPr wrap="square" anchor="t">
            <a:spAutoFit/>
          </a:bodyPr>
          <a:lstStyle/>
          <a:p>
            <a:pPr algn="l"/>
            <a:r>
              <a:rPr sz="1200" b="0">
                <a:solidFill>
                  <a:srgbClr val="E8C56A"/>
                </a:solidFill>
                <a:latin typeface="Segoe UI"/>
              </a:rPr>
              <a:t>Validation accuracy reported by the reference notebook (attributed — not our experimental results)</a:t>
            </a:r>
          </a:p>
        </p:txBody>
      </p:sp>
      <p:graphicFrame>
        <p:nvGraphicFramePr>
          <p:cNvPr id="6" name="Table 5"/>
          <p:cNvGraphicFramePr>
            <a:graphicFrameLocks noGrp="1"/>
          </p:cNvGraphicFramePr>
          <p:nvPr/>
        </p:nvGraphicFramePr>
        <p:xfrm>
          <a:off x="640080" y="2377440"/>
          <a:ext cx="5577840" cy="3291840"/>
        </p:xfrm>
        <a:graphic>
          <a:graphicData uri="http://schemas.openxmlformats.org/drawingml/2006/table">
            <a:tbl>
              <a:tblPr firstRow="1" bandRow="1">
                <a:tableStyleId>{5C22544A-7EE6-4342-B048-85BDC9FD1C3A}</a:tableStyleId>
              </a:tblPr>
              <a:tblGrid>
                <a:gridCol w="1859280"/>
                <a:gridCol w="1859280"/>
                <a:gridCol w="1859280"/>
              </a:tblGrid>
              <a:tr h="658368">
                <a:tc>
                  <a:txBody>
                    <a:bodyPr/>
                    <a:lstStyle/>
                    <a:p>
                      <a:r>
                        <a:rPr sz="1200" b="1">
                          <a:solidFill>
                            <a:srgbClr val="BDE8F5"/>
                          </a:solidFill>
                          <a:latin typeface="Segoe UI"/>
                        </a:rPr>
                        <a:t>Model</a:t>
                      </a:r>
                    </a:p>
                  </a:txBody>
                  <a:tcPr anchor="ctr" marL="73152" marR="73152">
                    <a:solidFill>
                      <a:srgbClr val="1C4D8D"/>
                    </a:solidFill>
                  </a:tcPr>
                </a:tc>
                <a:tc>
                  <a:txBody>
                    <a:bodyPr/>
                    <a:lstStyle/>
                    <a:p>
                      <a:r>
                        <a:rPr sz="1200" b="1">
                          <a:solidFill>
                            <a:srgbClr val="BDE8F5"/>
                          </a:solidFill>
                          <a:latin typeface="Segoe UI"/>
                        </a:rPr>
                        <a:t>Strategy</a:t>
                      </a:r>
                    </a:p>
                  </a:txBody>
                  <a:tcPr anchor="ctr" marL="73152" marR="73152">
                    <a:solidFill>
                      <a:srgbClr val="1C4D8D"/>
                    </a:solidFill>
                  </a:tcPr>
                </a:tc>
                <a:tc>
                  <a:txBody>
                    <a:bodyPr/>
                    <a:lstStyle/>
                    <a:p>
                      <a:r>
                        <a:rPr sz="1200" b="1">
                          <a:solidFill>
                            <a:srgbClr val="BDE8F5"/>
                          </a:solidFill>
                          <a:latin typeface="Segoe UI"/>
                        </a:rPr>
                        <a:t>Val accuracy</a:t>
                      </a:r>
                    </a:p>
                  </a:txBody>
                  <a:tcPr anchor="ctr" marL="73152" marR="73152">
                    <a:solidFill>
                      <a:srgbClr val="1C4D8D"/>
                    </a:solidFill>
                  </a:tcPr>
                </a:tc>
              </a:tr>
              <a:tr h="658368">
                <a:tc>
                  <a:txBody>
                    <a:bodyPr/>
                    <a:lstStyle/>
                    <a:p>
                      <a:r>
                        <a:rPr sz="1200">
                          <a:solidFill>
                            <a:srgbClr val="F8FAFC"/>
                          </a:solidFill>
                          <a:latin typeface="Segoe UI"/>
                        </a:rPr>
                        <a:t>Custom CNN</a:t>
                      </a:r>
                    </a:p>
                  </a:txBody>
                  <a:tcPr anchor="ctr" marL="73152" marR="73152">
                    <a:solidFill>
                      <a:srgbClr val="142F63"/>
                    </a:solidFill>
                  </a:tcPr>
                </a:tc>
                <a:tc>
                  <a:txBody>
                    <a:bodyPr/>
                    <a:lstStyle/>
                    <a:p>
                      <a:r>
                        <a:rPr sz="1200">
                          <a:solidFill>
                            <a:srgbClr val="F8FAFC"/>
                          </a:solidFill>
                          <a:latin typeface="Segoe UI"/>
                        </a:rPr>
                        <a:t>from scratch</a:t>
                      </a:r>
                    </a:p>
                  </a:txBody>
                  <a:tcPr anchor="ctr" marL="73152" marR="73152">
                    <a:solidFill>
                      <a:srgbClr val="142F63"/>
                    </a:solidFill>
                  </a:tcPr>
                </a:tc>
                <a:tc>
                  <a:txBody>
                    <a:bodyPr/>
                    <a:lstStyle/>
                    <a:p>
                      <a:r>
                        <a:rPr sz="1200">
                          <a:solidFill>
                            <a:srgbClr val="F8FAFC"/>
                          </a:solidFill>
                          <a:latin typeface="Segoe UI"/>
                        </a:rPr>
                        <a:t>83.97%</a:t>
                      </a:r>
                    </a:p>
                  </a:txBody>
                  <a:tcPr anchor="ctr" marL="73152" marR="73152">
                    <a:solidFill>
                      <a:srgbClr val="142F63"/>
                    </a:solidFill>
                  </a:tcPr>
                </a:tc>
              </a:tr>
              <a:tr h="658368">
                <a:tc>
                  <a:txBody>
                    <a:bodyPr/>
                    <a:lstStyle/>
                    <a:p>
                      <a:r>
                        <a:rPr sz="1200">
                          <a:solidFill>
                            <a:srgbClr val="F8FAFC"/>
                          </a:solidFill>
                          <a:latin typeface="Segoe UI"/>
                        </a:rPr>
                        <a:t>MobileNetV2</a:t>
                      </a:r>
                    </a:p>
                  </a:txBody>
                  <a:tcPr anchor="ctr" marL="73152" marR="73152">
                    <a:solidFill>
                      <a:srgbClr val="142F63"/>
                    </a:solidFill>
                  </a:tcPr>
                </a:tc>
                <a:tc>
                  <a:txBody>
                    <a:bodyPr/>
                    <a:lstStyle/>
                    <a:p>
                      <a:r>
                        <a:rPr sz="1200">
                          <a:solidFill>
                            <a:srgbClr val="F8FAFC"/>
                          </a:solidFill>
                          <a:latin typeface="Segoe UI"/>
                        </a:rPr>
                        <a:t>TL + fine-tune</a:t>
                      </a:r>
                    </a:p>
                  </a:txBody>
                  <a:tcPr anchor="ctr" marL="73152" marR="73152">
                    <a:solidFill>
                      <a:srgbClr val="142F63"/>
                    </a:solidFill>
                  </a:tcPr>
                </a:tc>
                <a:tc>
                  <a:txBody>
                    <a:bodyPr/>
                    <a:lstStyle/>
                    <a:p>
                      <a:r>
                        <a:rPr sz="1200">
                          <a:solidFill>
                            <a:srgbClr val="F8FAFC"/>
                          </a:solidFill>
                          <a:latin typeface="Segoe UI"/>
                        </a:rPr>
                        <a:t>89.57%</a:t>
                      </a:r>
                    </a:p>
                  </a:txBody>
                  <a:tcPr anchor="ctr" marL="73152" marR="73152">
                    <a:solidFill>
                      <a:srgbClr val="142F63"/>
                    </a:solidFill>
                  </a:tcPr>
                </a:tc>
              </a:tr>
              <a:tr h="658368">
                <a:tc>
                  <a:txBody>
                    <a:bodyPr/>
                    <a:lstStyle/>
                    <a:p>
                      <a:r>
                        <a:rPr sz="1200">
                          <a:solidFill>
                            <a:srgbClr val="F8FAFC"/>
                          </a:solidFill>
                          <a:latin typeface="Segoe UI"/>
                        </a:rPr>
                        <a:t>DenseNet121</a:t>
                      </a:r>
                    </a:p>
                  </a:txBody>
                  <a:tcPr anchor="ctr" marL="73152" marR="73152">
                    <a:solidFill>
                      <a:srgbClr val="142F63"/>
                    </a:solidFill>
                  </a:tcPr>
                </a:tc>
                <a:tc>
                  <a:txBody>
                    <a:bodyPr/>
                    <a:lstStyle/>
                    <a:p>
                      <a:r>
                        <a:rPr sz="1200">
                          <a:solidFill>
                            <a:srgbClr val="F8FAFC"/>
                          </a:solidFill>
                          <a:latin typeface="Segoe UI"/>
                        </a:rPr>
                        <a:t>TL + partial FT</a:t>
                      </a:r>
                    </a:p>
                  </a:txBody>
                  <a:tcPr anchor="ctr" marL="73152" marR="73152">
                    <a:solidFill>
                      <a:srgbClr val="142F63"/>
                    </a:solidFill>
                  </a:tcPr>
                </a:tc>
                <a:tc>
                  <a:txBody>
                    <a:bodyPr/>
                    <a:lstStyle/>
                    <a:p>
                      <a:r>
                        <a:rPr sz="1200">
                          <a:solidFill>
                            <a:srgbClr val="F8FAFC"/>
                          </a:solidFill>
                          <a:latin typeface="Segoe UI"/>
                        </a:rPr>
                        <a:t>92.57%</a:t>
                      </a:r>
                    </a:p>
                  </a:txBody>
                  <a:tcPr anchor="ctr" marL="73152" marR="73152">
                    <a:solidFill>
                      <a:srgbClr val="142F63"/>
                    </a:solidFill>
                  </a:tcPr>
                </a:tc>
              </a:tr>
              <a:tr h="658368">
                <a:tc>
                  <a:txBody>
                    <a:bodyPr/>
                    <a:lstStyle/>
                    <a:p>
                      <a:r>
                        <a:rPr sz="1200" b="1">
                          <a:solidFill>
                            <a:srgbClr val="4CD98C"/>
                          </a:solidFill>
                          <a:latin typeface="Segoe UI"/>
                        </a:rPr>
                        <a:t>EfficientNetB3</a:t>
                      </a:r>
                    </a:p>
                  </a:txBody>
                  <a:tcPr anchor="ctr" marL="73152" marR="73152">
                    <a:solidFill>
                      <a:srgbClr val="1A3A77"/>
                    </a:solidFill>
                  </a:tcPr>
                </a:tc>
                <a:tc>
                  <a:txBody>
                    <a:bodyPr/>
                    <a:lstStyle/>
                    <a:p>
                      <a:r>
                        <a:rPr sz="1200" b="1">
                          <a:solidFill>
                            <a:srgbClr val="4CD98C"/>
                          </a:solidFill>
                          <a:latin typeface="Segoe UI"/>
                        </a:rPr>
                        <a:t>TL + partial FT</a:t>
                      </a:r>
                    </a:p>
                  </a:txBody>
                  <a:tcPr anchor="ctr" marL="73152" marR="73152">
                    <a:solidFill>
                      <a:srgbClr val="1A3A77"/>
                    </a:solidFill>
                  </a:tcPr>
                </a:tc>
                <a:tc>
                  <a:txBody>
                    <a:bodyPr/>
                    <a:lstStyle/>
                    <a:p>
                      <a:r>
                        <a:rPr sz="1200" b="1">
                          <a:solidFill>
                            <a:srgbClr val="4CD98C"/>
                          </a:solidFill>
                          <a:latin typeface="Segoe UI"/>
                        </a:rPr>
                        <a:t>93.02%</a:t>
                      </a:r>
                    </a:p>
                  </a:txBody>
                  <a:tcPr anchor="ctr" marL="73152" marR="73152">
                    <a:solidFill>
                      <a:srgbClr val="1A3A77"/>
                    </a:solidFill>
                  </a:tcPr>
                </a:tc>
              </a:tr>
            </a:tbl>
          </a:graphicData>
        </a:graphic>
      </p:graphicFrame>
      <p:pic>
        <p:nvPicPr>
          <p:cNvPr id="7" name="Picture 6" descr="reference_model_comparison.png"/>
          <p:cNvPicPr>
            <a:picLocks noChangeAspect="1"/>
          </p:cNvPicPr>
          <p:nvPr/>
        </p:nvPicPr>
        <p:blipFill>
          <a:blip r:embed="rId2"/>
          <a:stretch>
            <a:fillRect/>
          </a:stretch>
        </p:blipFill>
        <p:spPr>
          <a:xfrm>
            <a:off x="6492240" y="2286000"/>
            <a:ext cx="5120640" cy="2583809"/>
          </a:xfrm>
          <a:prstGeom prst="rect">
            <a:avLst/>
          </a:prstGeom>
        </p:spPr>
      </p:pic>
      <p:sp>
        <p:nvSpPr>
          <p:cNvPr id="8" name="TextBox 7"/>
          <p:cNvSpPr txBox="1"/>
          <p:nvPr/>
        </p:nvSpPr>
        <p:spPr>
          <a:xfrm>
            <a:off x="6492240" y="5669280"/>
            <a:ext cx="5120640" cy="457200"/>
          </a:xfrm>
          <a:prstGeom prst="rect">
            <a:avLst/>
          </a:prstGeom>
          <a:noFill/>
        </p:spPr>
        <p:txBody>
          <a:bodyPr wrap="square" anchor="t">
            <a:spAutoFit/>
          </a:bodyPr>
          <a:lstStyle/>
          <a:p>
            <a:pPr algn="ctr"/>
            <a:r>
              <a:rPr sz="1000" b="0">
                <a:solidFill>
                  <a:srgbClr val="CBD5E1"/>
                </a:solidFill>
                <a:latin typeface="Segoe UI"/>
              </a:rPr>
              <a:t>Reference benchmark comparison (chart attributed to the reference notebook)</a:t>
            </a:r>
          </a:p>
        </p:txBody>
      </p:sp>
      <p:sp>
        <p:nvSpPr>
          <p:cNvPr id="9" name="Rectangle 8"/>
          <p:cNvSpPr/>
          <p:nvPr/>
        </p:nvSpPr>
        <p:spPr>
          <a:xfrm>
            <a:off x="640080" y="5806440"/>
            <a:ext cx="5577840" cy="384048"/>
          </a:xfrm>
          <a:prstGeom prst="rect">
            <a:avLst/>
          </a:prstGeom>
          <a:solidFill>
            <a:srgbClr val="1A3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4CD98C"/>
                </a:solidFill>
                <a:latin typeface="Segoe UI Semibold"/>
              </a:rPr>
              <a:t>CHAMPION: EfficientNetB3 · 93.02%</a:t>
            </a:r>
          </a:p>
        </p:txBody>
      </p:sp>
      <p:sp>
        <p:nvSpPr>
          <p:cNvPr id="10" name="Rectangle 9"/>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11" name="Rectangle 10"/>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502920"/>
            <a:ext cx="11064240" cy="54864"/>
          </a:xfrm>
          <a:prstGeom prst="rect">
            <a:avLst/>
          </a:prstGeom>
          <a:solidFill>
            <a:srgbClr val="1C4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31520"/>
            <a:ext cx="10058400" cy="365760"/>
          </a:xfrm>
          <a:prstGeom prst="rect">
            <a:avLst/>
          </a:prstGeom>
          <a:noFill/>
        </p:spPr>
        <p:txBody>
          <a:bodyPr wrap="square" anchor="t">
            <a:spAutoFit/>
          </a:bodyPr>
          <a:lstStyle/>
          <a:p>
            <a:pPr algn="l"/>
            <a:r>
              <a:rPr sz="1100" b="1">
                <a:solidFill>
                  <a:srgbClr val="4988C4"/>
                </a:solidFill>
                <a:latin typeface="Segoe UI"/>
              </a:rPr>
              <a:t>MILESTONE 3 · CHAMPION ANALYSIS</a:t>
            </a:r>
          </a:p>
        </p:txBody>
      </p:sp>
      <p:sp>
        <p:nvSpPr>
          <p:cNvPr id="4" name="TextBox 3"/>
          <p:cNvSpPr txBox="1"/>
          <p:nvPr/>
        </p:nvSpPr>
        <p:spPr>
          <a:xfrm>
            <a:off x="640080" y="1097280"/>
            <a:ext cx="10515600" cy="640080"/>
          </a:xfrm>
          <a:prstGeom prst="rect">
            <a:avLst/>
          </a:prstGeom>
          <a:noFill/>
        </p:spPr>
        <p:txBody>
          <a:bodyPr wrap="square" anchor="t">
            <a:spAutoFit/>
          </a:bodyPr>
          <a:lstStyle/>
          <a:p>
            <a:pPr algn="l"/>
            <a:r>
              <a:rPr sz="2400" b="1">
                <a:solidFill>
                  <a:srgbClr val="F8FAFC"/>
                </a:solidFill>
                <a:latin typeface="Segoe UI"/>
              </a:rPr>
              <a:t>EfficientNetB3 Champion — and DenseNet121 Close Behind</a:t>
            </a:r>
          </a:p>
        </p:txBody>
      </p:sp>
      <p:sp>
        <p:nvSpPr>
          <p:cNvPr id="5" name="TextBox 4"/>
          <p:cNvSpPr txBox="1"/>
          <p:nvPr/>
        </p:nvSpPr>
        <p:spPr>
          <a:xfrm>
            <a:off x="640080" y="1920240"/>
            <a:ext cx="10607040" cy="4023360"/>
          </a:xfrm>
          <a:prstGeom prst="rect">
            <a:avLst/>
          </a:prstGeom>
          <a:noFill/>
        </p:spPr>
        <p:txBody>
          <a:bodyPr wrap="square">
            <a:spAutoFit/>
          </a:bodyPr>
          <a:lstStyle/>
          <a:p>
            <a:pPr>
              <a:spcAft>
                <a:spcPts val="800"/>
              </a:spcAft>
            </a:pPr>
            <a:r>
              <a:rPr sz="1400" b="1">
                <a:solidFill>
                  <a:srgbClr val="F8FAFC"/>
                </a:solidFill>
                <a:latin typeface="Segoe UI Semibold"/>
              </a:rPr>
              <a:t>Why EfficientNetB3 won — </a:t>
            </a:r>
            <a:r>
              <a:rPr sz="1400">
                <a:solidFill>
                  <a:srgbClr val="CBD5E1"/>
                </a:solidFill>
                <a:latin typeface="Segoe UI"/>
              </a:rPr>
              <a:t>deep compound-scaled backbone (~10.7M params) captures subtle lesion textures</a:t>
            </a:r>
          </a:p>
          <a:p>
            <a:pPr>
              <a:spcAft>
                <a:spcPts val="800"/>
              </a:spcAft>
            </a:pPr>
            <a:r>
              <a:rPr sz="1400" b="1">
                <a:solidFill>
                  <a:srgbClr val="F8FAFC"/>
                </a:solidFill>
                <a:latin typeface="Segoe UI Semibold"/>
              </a:rPr>
              <a:t>Partial fine-tuning — </a:t>
            </a:r>
            <a:r>
              <a:rPr sz="1400">
                <a:solidFill>
                  <a:srgbClr val="CBD5E1"/>
                </a:solidFill>
                <a:latin typeface="Segoe UI"/>
              </a:rPr>
              <a:t>top 50 layers adapted at 1e-4 — generic early filters preserved</a:t>
            </a:r>
          </a:p>
          <a:p>
            <a:pPr>
              <a:spcAft>
                <a:spcPts val="800"/>
              </a:spcAft>
            </a:pPr>
            <a:r>
              <a:rPr sz="1400" b="1">
                <a:solidFill>
                  <a:srgbClr val="F8FAFC"/>
                </a:solidFill>
                <a:latin typeface="Segoe UI Semibold"/>
              </a:rPr>
              <a:t>DenseNet121 (92.57%) — </a:t>
            </a:r>
            <a:r>
              <a:rPr sz="1400">
                <a:solidFill>
                  <a:srgbClr val="CBD5E1"/>
                </a:solidFill>
                <a:latin typeface="Segoe UI"/>
              </a:rPr>
              <a:t>dense feature reuse + LR annealing keeps it within 0.45 pts of the champion</a:t>
            </a:r>
          </a:p>
          <a:p>
            <a:pPr>
              <a:spcAft>
                <a:spcPts val="800"/>
              </a:spcAft>
            </a:pPr>
            <a:r>
              <a:rPr sz="1400" b="1">
                <a:solidFill>
                  <a:srgbClr val="F8FAFC"/>
                </a:solidFill>
                <a:latin typeface="Segoe UI Semibold"/>
              </a:rPr>
              <a:t>Both heavy models lead — </a:t>
            </a:r>
            <a:r>
              <a:rPr sz="1400">
                <a:solidFill>
                  <a:srgbClr val="CBD5E1"/>
                </a:solidFill>
                <a:latin typeface="Segoe UI"/>
              </a:rPr>
              <a:t>capacity + pretrained features dominate on fine-grained medical classes</a:t>
            </a:r>
          </a:p>
          <a:p>
            <a:pPr>
              <a:spcAft>
                <a:spcPts val="800"/>
              </a:spcAft>
            </a:pPr>
            <a:r>
              <a:rPr sz="1400" b="1">
                <a:solidFill>
                  <a:srgbClr val="F8FAFC"/>
                </a:solidFill>
                <a:latin typeface="Segoe UI Semibold"/>
              </a:rPr>
              <a:t>Our contribution — </a:t>
            </a:r>
            <a:r>
              <a:rPr sz="1400">
                <a:solidFill>
                  <a:srgbClr val="CBD5E1"/>
                </a:solidFill>
                <a:latin typeface="Segoe UI"/>
              </a:rPr>
              <a:t>we verify the champion on our own held-out test set in Milestone 4</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14/15</a:t>
            </a:r>
          </a:p>
        </p:txBody>
      </p:sp>
      <p:sp>
        <p:nvSpPr>
          <p:cNvPr id="7" name="Rectangle 6"/>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8" name="Rectangle 7"/>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2854"/>
        </a:solidFill>
        <a:effectLst/>
      </p:bgPr>
    </p:bg>
    <p:spTree>
      <p:nvGrpSpPr>
        <p:cNvPr id="1" name=""/>
        <p:cNvGrpSpPr/>
        <p:nvPr/>
      </p:nvGrpSpPr>
      <p:grpSpPr/>
      <p:sp>
        <p:nvSpPr>
          <p:cNvPr id="2" name="Rectangle 1"/>
          <p:cNvSpPr/>
          <p:nvPr/>
        </p:nvSpPr>
        <p:spPr>
          <a:xfrm>
            <a:off x="548640" y="960120"/>
            <a:ext cx="128016" cy="1280160"/>
          </a:xfrm>
          <a:prstGeom prst="rect">
            <a:avLst/>
          </a:prstGeom>
          <a:solidFill>
            <a:srgbClr val="BD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457200"/>
          </a:xfrm>
          <a:prstGeom prst="rect">
            <a:avLst/>
          </a:prstGeom>
          <a:noFill/>
        </p:spPr>
        <p:txBody>
          <a:bodyPr wrap="square" anchor="t">
            <a:spAutoFit/>
          </a:bodyPr>
          <a:lstStyle/>
          <a:p>
            <a:pPr algn="l"/>
            <a:r>
              <a:rPr sz="1300" b="1">
                <a:solidFill>
                  <a:srgbClr val="4988C4"/>
                </a:solidFill>
                <a:latin typeface="Segoe UI"/>
              </a:rPr>
              <a:t>TRANSITION · MILESTONE 3 → 4</a:t>
            </a:r>
          </a:p>
        </p:txBody>
      </p:sp>
      <p:sp>
        <p:nvSpPr>
          <p:cNvPr id="4" name="TextBox 3"/>
          <p:cNvSpPr txBox="1"/>
          <p:nvPr/>
        </p:nvSpPr>
        <p:spPr>
          <a:xfrm>
            <a:off x="914400" y="1325880"/>
            <a:ext cx="10789920" cy="914400"/>
          </a:xfrm>
          <a:prstGeom prst="rect">
            <a:avLst/>
          </a:prstGeom>
          <a:noFill/>
        </p:spPr>
        <p:txBody>
          <a:bodyPr wrap="square" anchor="t">
            <a:spAutoFit/>
          </a:bodyPr>
          <a:lstStyle/>
          <a:p>
            <a:pPr algn="l"/>
            <a:r>
              <a:rPr sz="3200" b="1">
                <a:solidFill>
                  <a:srgbClr val="F8FAFC"/>
                </a:solidFill>
                <a:latin typeface="Segoe UI"/>
              </a:rPr>
              <a:t>From Benchmark to Evaluation</a:t>
            </a:r>
          </a:p>
        </p:txBody>
      </p:sp>
      <p:sp>
        <p:nvSpPr>
          <p:cNvPr id="5" name="TextBox 4"/>
          <p:cNvSpPr txBox="1"/>
          <p:nvPr/>
        </p:nvSpPr>
        <p:spPr>
          <a:xfrm>
            <a:off x="914400" y="2194560"/>
            <a:ext cx="10515600" cy="731520"/>
          </a:xfrm>
          <a:prstGeom prst="rect">
            <a:avLst/>
          </a:prstGeom>
          <a:noFill/>
        </p:spPr>
        <p:txBody>
          <a:bodyPr wrap="square" anchor="t">
            <a:spAutoFit/>
          </a:bodyPr>
          <a:lstStyle/>
          <a:p>
            <a:pPr algn="l"/>
            <a:r>
              <a:rPr sz="1500" b="0">
                <a:solidFill>
                  <a:srgbClr val="CBD5E1"/>
                </a:solidFill>
                <a:latin typeface="Segoe UI"/>
              </a:rPr>
              <a:t>Reference benchmark integrated and attributed — next: held-out test evaluation, confusion matrix, per-class metrics</a:t>
            </a:r>
          </a:p>
        </p:txBody>
      </p:sp>
      <p:sp>
        <p:nvSpPr>
          <p:cNvPr id="6" name="TextBox 5"/>
          <p:cNvSpPr txBox="1"/>
          <p:nvPr/>
        </p:nvSpPr>
        <p:spPr>
          <a:xfrm>
            <a:off x="11247120" y="6492240"/>
            <a:ext cx="731520" cy="365760"/>
          </a:xfrm>
          <a:prstGeom prst="rect">
            <a:avLst/>
          </a:prstGeom>
          <a:noFill/>
        </p:spPr>
        <p:txBody>
          <a:bodyPr wrap="square" anchor="t">
            <a:spAutoFit/>
          </a:bodyPr>
          <a:lstStyle/>
          <a:p>
            <a:pPr algn="r"/>
            <a:r>
              <a:rPr sz="1000" b="0">
                <a:solidFill>
                  <a:srgbClr val="24406B"/>
                </a:solidFill>
                <a:latin typeface="Segoe UI"/>
              </a:rPr>
              <a:t>15/15</a:t>
            </a:r>
          </a:p>
        </p:txBody>
      </p:sp>
      <p:sp>
        <p:nvSpPr>
          <p:cNvPr id="7" name="Rectangle 6"/>
          <p:cNvSpPr/>
          <p:nvPr/>
        </p:nvSpPr>
        <p:spPr>
          <a:xfrm>
            <a:off x="640080" y="6236208"/>
            <a:ext cx="5943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E8C56A"/>
                </a:solidFill>
                <a:latin typeface="Segoe UI Semibold"/>
              </a:rPr>
              <a:t>REFERENCE BENCHMARK RESULTS - model performance attributed to the Kaggle reference notebook</a:t>
            </a:r>
          </a:p>
        </p:txBody>
      </p:sp>
      <p:sp>
        <p:nvSpPr>
          <p:cNvPr id="8" name="Rectangle 7"/>
          <p:cNvSpPr/>
          <p:nvPr/>
        </p:nvSpPr>
        <p:spPr>
          <a:xfrm>
            <a:off x="6720840" y="6236208"/>
            <a:ext cx="4800600" cy="475488"/>
          </a:xfrm>
          <a:prstGeom prst="rect">
            <a:avLst/>
          </a:prstGeom>
          <a:solidFill>
            <a:srgbClr val="142F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a:solidFill>
                  <a:srgbClr val="BDE8F5"/>
                </a:solidFill>
                <a:latin typeface="Segoe UI Semibold"/>
              </a:rPr>
              <a:t>OUR CONTRIBUTION - EDA, pipeline, architecture, documentation,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